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3" r:id="rId1"/>
  </p:sldMasterIdLst>
  <p:notesMasterIdLst>
    <p:notesMasterId r:id="rId16"/>
  </p:notesMasterIdLst>
  <p:sldIdLst>
    <p:sldId id="256" r:id="rId2"/>
    <p:sldId id="269" r:id="rId3"/>
    <p:sldId id="656" r:id="rId4"/>
    <p:sldId id="655" r:id="rId5"/>
    <p:sldId id="505" r:id="rId6"/>
    <p:sldId id="660" r:id="rId7"/>
    <p:sldId id="257" r:id="rId8"/>
    <p:sldId id="680" r:id="rId9"/>
    <p:sldId id="657" r:id="rId10"/>
    <p:sldId id="676" r:id="rId11"/>
    <p:sldId id="687" r:id="rId12"/>
    <p:sldId id="683" r:id="rId13"/>
    <p:sldId id="685" r:id="rId14"/>
    <p:sldId id="677" r:id="rId1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27DD"/>
    <a:srgbClr val="4F81BD"/>
    <a:srgbClr val="E9EDF4"/>
    <a:srgbClr val="00CC00"/>
    <a:srgbClr val="541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365B0B7-4D15-414A-970B-D745491E33C6}" type="datetimeFigureOut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0F31F62-4BBA-464B-B77D-2EA67385E1B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1710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F31F62-4BBA-464B-B77D-2EA67385E1B4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515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06BD454E-C87F-4627-AE11-3EE11995F60E}" type="datetimeFigureOut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13CBB9-3359-4386-9E8F-12698386FB0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85F0688E-9904-4C52-9143-64F948B96C21}" type="datetimeFigureOut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D0740A-614E-4433-A0B0-1A6E1C87342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F84B5015-C5F8-4920-8632-02AB0ECB5E2C}" type="datetimeFigureOut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2BD85-021C-446E-9237-E791D3253F3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B5098822-9DC9-49A2-93E1-0B67397A76A9}" type="datetimeFigureOut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283FB0-C18D-4CDE-A555-BC3F3147BC1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A2F817FC-2B62-4086-8C73-98F30283E596}" type="datetimeFigureOut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3C3226-4196-468A-953F-DF151FFC72B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0584ED3C-D14E-434B-8039-0E2D7C8A0B7A}" type="datetimeFigureOut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B7152C-DBD1-492B-9A4B-686B396C109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956EC09A-A060-46B5-B6DF-5C9B1C49E1EF}" type="datetimeFigureOut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80E95A-FD84-4636-AC41-5B74A51B6F6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5EC523C4-997E-4C49-85EF-8174B0CE46E8}" type="datetimeFigureOut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F72FB6-C6D9-47AA-98AD-A448867FCEF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40EAFABD-219C-46B5-BABB-26A55D596B71}" type="datetimeFigureOut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70DD2-A47F-485D-9E84-4992227F5DD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0573F851-3A6D-484B-A0F1-5EE6E5153B88}" type="datetimeFigureOut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A235C-4D41-4226-A188-19DABB23D4E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D81D1084-52E9-4284-A1F2-56001A534BAF}" type="datetimeFigureOut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994B2-99DA-4F69-B9EF-29B28798043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E8CF459D-28BF-4E85-BBE5-E53A64D0F7B3}" type="datetime1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7317A4-E7EB-48B2-8F4A-488908F9ED3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ightlogo_01"/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7239000" y="0"/>
            <a:ext cx="1905000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F646FD41-4306-42BB-A2BF-91828CE19EA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5" r:id="rId1"/>
    <p:sldLayoutId id="2147484006" r:id="rId2"/>
    <p:sldLayoutId id="2147484007" r:id="rId3"/>
    <p:sldLayoutId id="2147484008" r:id="rId4"/>
    <p:sldLayoutId id="2147484009" r:id="rId5"/>
    <p:sldLayoutId id="2147484010" r:id="rId6"/>
    <p:sldLayoutId id="2147484011" r:id="rId7"/>
    <p:sldLayoutId id="2147484012" r:id="rId8"/>
    <p:sldLayoutId id="2147484013" r:id="rId9"/>
    <p:sldLayoutId id="2147484014" r:id="rId10"/>
    <p:sldLayoutId id="2147484015" r:id="rId11"/>
    <p:sldLayoutId id="2147484017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ctrTitle"/>
          </p:nvPr>
        </p:nvSpPr>
        <p:spPr>
          <a:xfrm>
            <a:off x="395536" y="1014263"/>
            <a:ext cx="8467874" cy="1643062"/>
          </a:xfrm>
        </p:spPr>
        <p:txBody>
          <a:bodyPr/>
          <a:lstStyle/>
          <a:p>
            <a:pPr eaLnBrk="1" hangingPunct="1"/>
            <a:r>
              <a:rPr lang="en-US" altLang="zh-CN" sz="54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PCB</a:t>
            </a:r>
            <a:r>
              <a:rPr lang="zh-CN" altLang="en-US" sz="54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（印制电路板）设计</a:t>
            </a:r>
            <a:endParaRPr lang="zh-CN" altLang="en-US" sz="540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5F78EB-CD8B-4BB5-8830-80CDC8B6C93F}" type="slidenum">
              <a:rPr lang="zh-CN" altLang="en-US"/>
              <a:pPr>
                <a:defRPr/>
              </a:pPr>
              <a:t>1</a:t>
            </a:fld>
            <a:endParaRPr lang="zh-CN" altLang="en-US"/>
          </a:p>
        </p:txBody>
      </p:sp>
      <p:sp>
        <p:nvSpPr>
          <p:cNvPr id="15365" name="Rectangle 3"/>
          <p:cNvSpPr txBox="1">
            <a:spLocks noRot="1" noChangeArrowheads="1"/>
          </p:cNvSpPr>
          <p:nvPr/>
        </p:nvSpPr>
        <p:spPr bwMode="auto">
          <a:xfrm>
            <a:off x="3536434" y="3394956"/>
            <a:ext cx="2071132" cy="503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None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主讲：吕汶</a:t>
            </a:r>
            <a:endParaRPr lang="en-US" altLang="zh-CN" sz="2800" b="1" dirty="0"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15366" name="Group 2"/>
          <p:cNvGrpSpPr>
            <a:grpSpLocks/>
          </p:cNvGrpSpPr>
          <p:nvPr/>
        </p:nvGrpSpPr>
        <p:grpSpPr bwMode="auto">
          <a:xfrm>
            <a:off x="0" y="5876925"/>
            <a:ext cx="3851275" cy="981075"/>
            <a:chOff x="0" y="3702"/>
            <a:chExt cx="2426" cy="618"/>
          </a:xfrm>
        </p:grpSpPr>
        <p:pic>
          <p:nvPicPr>
            <p:cNvPr id="15367" name="Picture 3" descr="未命名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3702"/>
              <a:ext cx="748" cy="6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68" name="Picture 4" descr="未命名1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57" y="4020"/>
              <a:ext cx="1769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878123" y="4725134"/>
            <a:ext cx="738775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西安电子科技大学</a:t>
            </a:r>
            <a:r>
              <a:rPr lang="zh-CN" altLang="zh-CN" sz="2400" b="1" dirty="0">
                <a:latin typeface="黑体" pitchFamily="49" charset="-122"/>
                <a:ea typeface="黑体" pitchFamily="49" charset="-122"/>
              </a:rPr>
              <a:t>电工电子国家级实验教学示范中心</a:t>
            </a:r>
          </a:p>
          <a:p>
            <a:pPr algn="ctr"/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E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楼</a:t>
            </a:r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II-406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实验室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>
            <a:grpSpLocks/>
          </p:cNvGrpSpPr>
          <p:nvPr/>
        </p:nvGrpSpPr>
        <p:grpSpPr bwMode="auto">
          <a:xfrm>
            <a:off x="0" y="5876925"/>
            <a:ext cx="3851275" cy="981075"/>
            <a:chOff x="0" y="3702"/>
            <a:chExt cx="2426" cy="618"/>
          </a:xfrm>
        </p:grpSpPr>
        <p:pic>
          <p:nvPicPr>
            <p:cNvPr id="7" name="Picture 3" descr="未命名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3702"/>
              <a:ext cx="748" cy="6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" name="Picture 4" descr="未命名1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57" y="4020"/>
              <a:ext cx="1769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57158" y="500042"/>
            <a:ext cx="8229600" cy="1725602"/>
          </a:xfrm>
        </p:spPr>
        <p:txBody>
          <a:bodyPr/>
          <a:lstStyle/>
          <a:p>
            <a:pPr eaLnBrk="1" hangingPunct="1"/>
            <a:r>
              <a:rPr lang="en-US" altLang="zh-CN" b="1" dirty="0">
                <a:latin typeface="黑体" pitchFamily="49" charset="-122"/>
                <a:ea typeface="黑体" pitchFamily="49" charset="-122"/>
              </a:rPr>
              <a:t>《PCB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（印制电路板）设计</a:t>
            </a:r>
            <a:r>
              <a:rPr lang="en-US" altLang="zh-CN" b="1" dirty="0">
                <a:latin typeface="黑体" pitchFamily="49" charset="-122"/>
                <a:ea typeface="黑体" pitchFamily="49" charset="-122"/>
              </a:rPr>
              <a:t>》</a:t>
            </a:r>
            <a:br>
              <a:rPr lang="en-US" altLang="zh-CN" b="1" dirty="0">
                <a:latin typeface="黑体" pitchFamily="49" charset="-122"/>
                <a:ea typeface="黑体" pitchFamily="49" charset="-122"/>
              </a:rPr>
            </a:b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idx="1"/>
          </p:nvPr>
        </p:nvSpPr>
        <p:spPr>
          <a:xfrm>
            <a:off x="899591" y="1556792"/>
            <a:ext cx="7830777" cy="4572545"/>
          </a:xfrm>
        </p:spPr>
        <p:txBody>
          <a:bodyPr rtlCol="0">
            <a:normAutofit lnSpcReduction="10000"/>
          </a:bodyPr>
          <a:lstStyle/>
          <a:p>
            <a:pPr marL="0" indent="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2"/>
              </a:buClr>
              <a:buSzPct val="70000"/>
              <a:buNone/>
              <a:defRPr/>
            </a:pPr>
            <a:r>
              <a:rPr lang="zh-CN" alt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课程安排：</a:t>
            </a:r>
            <a:endParaRPr lang="en-US" altLang="zh-CN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楷体_GB2312" pitchFamily="49" charset="-122"/>
            </a:endParaRPr>
          </a:p>
          <a:p>
            <a:pPr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2"/>
              </a:buClr>
              <a:buSzPct val="70000"/>
              <a:buFont typeface="Wingdings" pitchFamily="2" charset="2"/>
              <a:buChar char="u"/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6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学时理论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+10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学时实验，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16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学时共分四次课完成</a:t>
            </a:r>
            <a:endParaRPr lang="en-US" altLang="zh-CN" sz="2400" b="1" dirty="0">
              <a:solidFill>
                <a:srgbClr val="FF0000"/>
              </a:solidFill>
              <a:latin typeface="+mn-ea"/>
            </a:endParaRPr>
          </a:p>
          <a:p>
            <a:pPr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2"/>
              </a:buClr>
              <a:buSzPct val="70000"/>
              <a:buFont typeface="Wingdings" pitchFamily="2" charset="2"/>
              <a:buChar char="u"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第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1-2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次课 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学时理论 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+ 1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学时实验</a:t>
            </a:r>
            <a:endParaRPr lang="en-US" altLang="zh-CN" sz="2400" b="1" dirty="0">
              <a:solidFill>
                <a:srgbClr val="FF0000"/>
              </a:solidFill>
              <a:latin typeface="+mn-ea"/>
            </a:endParaRPr>
          </a:p>
          <a:p>
            <a:pPr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2"/>
              </a:buClr>
              <a:buSzPct val="70000"/>
              <a:buFont typeface="Wingdings" pitchFamily="2" charset="2"/>
              <a:buChar char="u"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第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3-4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次课 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4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学时开放实验</a:t>
            </a:r>
            <a:endParaRPr lang="en-US" altLang="zh-CN" sz="2400" b="1" dirty="0">
              <a:solidFill>
                <a:srgbClr val="FF0000"/>
              </a:solidFill>
              <a:latin typeface="+mn-ea"/>
            </a:endParaRPr>
          </a:p>
          <a:p>
            <a:pPr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2"/>
              </a:buClr>
              <a:buSzPct val="70000"/>
              <a:buFont typeface="Wingdings" pitchFamily="2" charset="2"/>
              <a:buChar char="u"/>
              <a:defRPr/>
            </a:pPr>
            <a:endParaRPr lang="en-US" altLang="zh-CN" sz="2400" b="1" dirty="0">
              <a:solidFill>
                <a:srgbClr val="FF0000"/>
              </a:solidFill>
              <a:latin typeface="+mn-ea"/>
            </a:endParaRPr>
          </a:p>
          <a:p>
            <a:pPr marL="0" indent="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2"/>
              </a:buClr>
              <a:buSzPct val="70000"/>
              <a:buNone/>
              <a:defRPr/>
            </a:pPr>
            <a:r>
              <a:rPr lang="zh-CN" alt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考核（可多人组队完成）</a:t>
            </a:r>
            <a:r>
              <a:rPr lang="zh-CN" alt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  <a:sym typeface="Wingdings" panose="05000000000000000000" pitchFamily="2" charset="2"/>
              </a:rPr>
              <a:t>：</a:t>
            </a:r>
            <a:endParaRPr lang="en-US" altLang="zh-CN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楷体_GB2312" pitchFamily="49" charset="-122"/>
            </a:endParaRPr>
          </a:p>
          <a:p>
            <a:pPr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2"/>
              </a:buClr>
              <a:buSzPct val="70000"/>
              <a:buFont typeface="Wingdings" pitchFamily="2" charset="2"/>
              <a:buChar char="u"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综合实验：单面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PCB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板设计</a:t>
            </a:r>
            <a:endParaRPr lang="en-US" altLang="zh-CN" sz="2400" b="1" dirty="0">
              <a:solidFill>
                <a:srgbClr val="FF0000"/>
              </a:solidFill>
              <a:latin typeface="+mn-ea"/>
            </a:endParaRPr>
          </a:p>
          <a:p>
            <a:pPr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2"/>
              </a:buClr>
              <a:buSzPct val="70000"/>
              <a:buFont typeface="Wingdings" pitchFamily="2" charset="2"/>
              <a:buChar char="u"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提高实验：双面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PCB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板设计</a:t>
            </a:r>
            <a:endParaRPr lang="en-US" altLang="zh-CN" sz="2400" b="1" dirty="0">
              <a:solidFill>
                <a:srgbClr val="FF0000"/>
              </a:solidFill>
              <a:latin typeface="+mn-ea"/>
            </a:endParaRPr>
          </a:p>
          <a:p>
            <a:pPr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2"/>
              </a:buClr>
              <a:buSzPct val="70000"/>
              <a:buFont typeface="Wingdings" pitchFamily="2" charset="2"/>
              <a:buChar char="u"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实验报告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E57A0A-913E-4AD1-A64C-B69CA14B23FF}" type="slidenum">
              <a:rPr lang="zh-CN" altLang="en-US"/>
              <a:pPr>
                <a:defRPr/>
              </a:pPr>
              <a:t>2</a:t>
            </a:fld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课程概述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• </a:t>
            </a:r>
            <a:r>
              <a:rPr lang="zh-CN" altLang="en-US" sz="2400" b="1" dirty="0"/>
              <a:t>本课程以</a:t>
            </a:r>
            <a:r>
              <a:rPr lang="en-US" altLang="zh-CN" sz="2400" b="1" dirty="0">
                <a:solidFill>
                  <a:srgbClr val="FF0000"/>
                </a:solidFill>
              </a:rPr>
              <a:t>Altium Designer</a:t>
            </a:r>
            <a:r>
              <a:rPr lang="zh-CN" altLang="en-US" sz="2400" b="1" dirty="0"/>
              <a:t>电路设计软件为平台， 培养学生使用此设计软件进行原理图绘制和</a:t>
            </a:r>
            <a:r>
              <a:rPr lang="en-US" altLang="zh-CN" sz="2400" b="1" dirty="0"/>
              <a:t>PCB</a:t>
            </a:r>
            <a:r>
              <a:rPr lang="zh-CN" altLang="en-US" sz="2400" b="1" dirty="0"/>
              <a:t>设计，掌握单面</a:t>
            </a:r>
            <a:r>
              <a:rPr lang="en-US" altLang="zh-CN" sz="2400" b="1" dirty="0"/>
              <a:t>/</a:t>
            </a:r>
            <a:r>
              <a:rPr lang="zh-CN" altLang="en-US" sz="2400" b="1" dirty="0"/>
              <a:t>双面</a:t>
            </a:r>
            <a:r>
              <a:rPr lang="en-US" altLang="zh-CN" sz="2400" b="1" dirty="0"/>
              <a:t>PCB</a:t>
            </a:r>
            <a:r>
              <a:rPr lang="zh-CN" altLang="en-US" sz="2400" b="1" dirty="0"/>
              <a:t>板的设计方法。 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• </a:t>
            </a:r>
            <a:r>
              <a:rPr lang="zh-CN" altLang="en-US" sz="2400" b="1" dirty="0"/>
              <a:t>本课程是电子类专业的一门技术课程，是与实际生产密切相关的实践性很强的课程。其目的是培养学生掌握单面板、双面板印制电路板设计方法、 工艺规范和制作流程，能为自主项目、企业和科研单位进行样品电路板制作和生产。</a:t>
            </a:r>
          </a:p>
        </p:txBody>
      </p:sp>
    </p:spTree>
    <p:extLst>
      <p:ext uri="{BB962C8B-B14F-4D97-AF65-F5344CB8AC3E}">
        <p14:creationId xmlns:p14="http://schemas.microsoft.com/office/powerpoint/2010/main" val="3522214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404664"/>
            <a:ext cx="8229600" cy="554914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zh-CN" sz="2400" b="1" dirty="0">
                <a:solidFill>
                  <a:srgbClr val="FF0000"/>
                </a:solidFill>
                <a:latin typeface="+mj-lt"/>
              </a:rPr>
              <a:t>理论讲授（</a:t>
            </a:r>
            <a:r>
              <a:rPr lang="en-US" altLang="zh-CN" sz="2400" b="1" dirty="0">
                <a:solidFill>
                  <a:srgbClr val="FF0000"/>
                </a:solidFill>
                <a:latin typeface="+mj-lt"/>
              </a:rPr>
              <a:t>6</a:t>
            </a:r>
            <a:r>
              <a:rPr lang="zh-CN" altLang="zh-CN" sz="2400" b="1" dirty="0">
                <a:solidFill>
                  <a:srgbClr val="FF0000"/>
                </a:solidFill>
                <a:latin typeface="+mj-lt"/>
              </a:rPr>
              <a:t>学时）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b="1" dirty="0">
                <a:latin typeface="+mj-lt"/>
                <a:cs typeface="Times New Roman" panose="02020603050405020304" pitchFamily="18" charset="0"/>
              </a:rPr>
              <a:t>PCB</a:t>
            </a:r>
            <a:r>
              <a:rPr lang="zh-CN" altLang="zh-CN" sz="2400" b="1" dirty="0">
                <a:latin typeface="+mj-lt"/>
                <a:cs typeface="Times New Roman" panose="02020603050405020304" pitchFamily="18" charset="0"/>
              </a:rPr>
              <a:t>设计及</a:t>
            </a:r>
            <a:r>
              <a:rPr lang="en-US" altLang="zh-CN" sz="2400" b="1" dirty="0">
                <a:latin typeface="+mj-lt"/>
                <a:cs typeface="Times New Roman" panose="02020603050405020304" pitchFamily="18" charset="0"/>
              </a:rPr>
              <a:t>AD23</a:t>
            </a:r>
            <a:r>
              <a:rPr lang="zh-CN" altLang="zh-CN" sz="2400" b="1" dirty="0">
                <a:latin typeface="+mj-lt"/>
                <a:cs typeface="Times New Roman" panose="02020603050405020304" pitchFamily="18" charset="0"/>
              </a:rPr>
              <a:t>软件的</a:t>
            </a:r>
            <a:r>
              <a:rPr lang="zh-CN" altLang="en-US" sz="2400" b="1" dirty="0">
                <a:latin typeface="+mj-lt"/>
                <a:cs typeface="Times New Roman" panose="02020603050405020304" pitchFamily="18" charset="0"/>
              </a:rPr>
              <a:t>介绍</a:t>
            </a:r>
            <a:r>
              <a:rPr lang="zh-CN" altLang="zh-CN" sz="2400" b="1" dirty="0">
                <a:latin typeface="+mj-lt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+mj-lt"/>
                <a:cs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+mj-lt"/>
                <a:cs typeface="Times New Roman" panose="02020603050405020304" pitchFamily="18" charset="0"/>
              </a:rPr>
              <a:t>学时）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zh-CN" altLang="zh-CN" sz="2400" b="1" dirty="0">
                <a:latin typeface="+mj-lt"/>
                <a:cs typeface="Times New Roman" panose="02020603050405020304" pitchFamily="18" charset="0"/>
              </a:rPr>
              <a:t>原理图基本绘制方法（</a:t>
            </a:r>
            <a:r>
              <a:rPr lang="en-US" altLang="zh-CN" sz="2400" b="1" dirty="0">
                <a:latin typeface="+mj-lt"/>
                <a:cs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+mj-lt"/>
                <a:cs typeface="Times New Roman" panose="02020603050405020304" pitchFamily="18" charset="0"/>
              </a:rPr>
              <a:t>学时）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zh-CN" altLang="en-US" sz="2400" b="1" dirty="0">
                <a:latin typeface="+mj-lt"/>
                <a:cs typeface="Times New Roman" panose="02020603050405020304" pitchFamily="18" charset="0"/>
              </a:rPr>
              <a:t>原理图库设计（</a:t>
            </a:r>
            <a:r>
              <a:rPr lang="en-US" altLang="zh-CN" sz="2400" b="1" dirty="0">
                <a:latin typeface="+mj-lt"/>
                <a:cs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+mj-lt"/>
                <a:cs typeface="Times New Roman" panose="02020603050405020304" pitchFamily="18" charset="0"/>
              </a:rPr>
              <a:t>学时</a:t>
            </a:r>
            <a:r>
              <a:rPr lang="zh-CN" altLang="en-US" sz="2400" b="1" dirty="0">
                <a:latin typeface="+mj-lt"/>
                <a:cs typeface="Times New Roman" panose="02020603050405020304" pitchFamily="18" charset="0"/>
              </a:rPr>
              <a:t>）</a:t>
            </a:r>
            <a:endParaRPr lang="en-US" altLang="zh-CN" sz="2400" b="1" dirty="0">
              <a:latin typeface="+mj-lt"/>
              <a:cs typeface="Times New Roman" panose="02020603050405020304" pitchFamily="18" charset="0"/>
            </a:endParaRPr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b="1" dirty="0">
                <a:latin typeface="+mj-lt"/>
                <a:cs typeface="Times New Roman" panose="02020603050405020304" pitchFamily="18" charset="0"/>
              </a:rPr>
              <a:t>PCB</a:t>
            </a:r>
            <a:r>
              <a:rPr lang="zh-CN" altLang="zh-CN" sz="2400" b="1" dirty="0">
                <a:latin typeface="+mj-lt"/>
                <a:cs typeface="Times New Roman" panose="02020603050405020304" pitchFamily="18" charset="0"/>
              </a:rPr>
              <a:t>封装</a:t>
            </a:r>
            <a:r>
              <a:rPr lang="zh-CN" altLang="en-US" sz="2400" b="1" dirty="0">
                <a:latin typeface="+mj-lt"/>
                <a:cs typeface="Times New Roman" panose="02020603050405020304" pitchFamily="18" charset="0"/>
              </a:rPr>
              <a:t>库设计</a:t>
            </a:r>
            <a:r>
              <a:rPr lang="zh-CN" altLang="zh-CN" sz="2400" b="1" dirty="0">
                <a:latin typeface="+mj-lt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+mj-lt"/>
                <a:cs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+mj-lt"/>
                <a:cs typeface="Times New Roman" panose="02020603050405020304" pitchFamily="18" charset="0"/>
              </a:rPr>
              <a:t>学时）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zh-CN" altLang="zh-CN" sz="2400" b="1" dirty="0">
                <a:latin typeface="+mj-lt"/>
                <a:cs typeface="Times New Roman" panose="02020603050405020304" pitchFamily="18" charset="0"/>
              </a:rPr>
              <a:t>电路板</a:t>
            </a:r>
            <a:r>
              <a:rPr lang="zh-CN" altLang="en-US" sz="2400" b="1" dirty="0">
                <a:latin typeface="+mj-lt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+mj-lt"/>
                <a:cs typeface="Times New Roman" panose="02020603050405020304" pitchFamily="18" charset="0"/>
              </a:rPr>
              <a:t>PCB</a:t>
            </a:r>
            <a:r>
              <a:rPr lang="zh-CN" altLang="en-US" sz="2400" b="1" dirty="0">
                <a:latin typeface="+mj-lt"/>
                <a:cs typeface="Times New Roman" panose="02020603050405020304" pitchFamily="18" charset="0"/>
              </a:rPr>
              <a:t>）</a:t>
            </a:r>
            <a:r>
              <a:rPr lang="zh-CN" altLang="zh-CN" sz="2400" b="1" dirty="0">
                <a:latin typeface="+mj-lt"/>
                <a:cs typeface="Times New Roman" panose="02020603050405020304" pitchFamily="18" charset="0"/>
              </a:rPr>
              <a:t>设计的方法（</a:t>
            </a:r>
            <a:r>
              <a:rPr lang="en-US" altLang="zh-CN" sz="2400" b="1" dirty="0">
                <a:latin typeface="+mj-lt"/>
                <a:cs typeface="Times New Roman" panose="02020603050405020304" pitchFamily="18" charset="0"/>
              </a:rPr>
              <a:t>2</a:t>
            </a:r>
            <a:r>
              <a:rPr lang="zh-CN" altLang="zh-CN" sz="2400" b="1" dirty="0">
                <a:latin typeface="+mj-lt"/>
                <a:cs typeface="Times New Roman" panose="02020603050405020304" pitchFamily="18" charset="0"/>
              </a:rPr>
              <a:t>学时）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zh-CN" sz="2400" b="1" dirty="0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实验（</a:t>
            </a:r>
            <a:r>
              <a:rPr lang="en-US" altLang="zh-CN" sz="2400" b="1" dirty="0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10</a:t>
            </a:r>
            <a:r>
              <a:rPr lang="zh-CN" altLang="zh-CN" sz="2400" b="1" dirty="0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学时）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zh-CN" altLang="zh-CN" sz="2400" b="1" dirty="0">
                <a:latin typeface="+mj-lt"/>
                <a:cs typeface="Times New Roman" panose="02020603050405020304" pitchFamily="18" charset="0"/>
              </a:rPr>
              <a:t>基础实验：原理图及电路</a:t>
            </a:r>
            <a:r>
              <a:rPr lang="zh-CN" altLang="en-US" sz="2400" b="1" dirty="0">
                <a:latin typeface="+mj-lt"/>
                <a:cs typeface="Times New Roman" panose="02020603050405020304" pitchFamily="18" charset="0"/>
              </a:rPr>
              <a:t>板</a:t>
            </a:r>
            <a:r>
              <a:rPr lang="zh-CN" altLang="zh-CN" sz="2400" b="1" dirty="0">
                <a:latin typeface="+mj-lt"/>
                <a:cs typeface="Times New Roman" panose="02020603050405020304" pitchFamily="18" charset="0"/>
              </a:rPr>
              <a:t>的设计</a:t>
            </a:r>
            <a:r>
              <a:rPr lang="zh-CN" altLang="en-US" sz="2400" b="1" dirty="0">
                <a:latin typeface="+mj-lt"/>
                <a:cs typeface="Times New Roman" panose="02020603050405020304" pitchFamily="18" charset="0"/>
              </a:rPr>
              <a:t>方法（</a:t>
            </a:r>
            <a:r>
              <a:rPr lang="en-US" altLang="zh-CN" sz="2400" b="1" dirty="0">
                <a:latin typeface="+mj-lt"/>
                <a:cs typeface="Times New Roman" panose="02020603050405020304" pitchFamily="18" charset="0"/>
              </a:rPr>
              <a:t>4</a:t>
            </a:r>
            <a:r>
              <a:rPr lang="zh-CN" altLang="zh-CN" sz="2400" b="1" dirty="0">
                <a:latin typeface="+mj-lt"/>
                <a:cs typeface="Times New Roman" panose="02020603050405020304" pitchFamily="18" charset="0"/>
              </a:rPr>
              <a:t>学时</a:t>
            </a:r>
            <a:r>
              <a:rPr lang="zh-CN" altLang="en-US" sz="2400" b="1" dirty="0">
                <a:latin typeface="+mj-lt"/>
                <a:cs typeface="Times New Roman" panose="02020603050405020304" pitchFamily="18" charset="0"/>
              </a:rPr>
              <a:t>）</a:t>
            </a:r>
            <a:endParaRPr lang="zh-CN" altLang="zh-CN" sz="2400" b="1" dirty="0">
              <a:latin typeface="+mj-lt"/>
              <a:cs typeface="Times New Roman" panose="02020603050405020304" pitchFamily="18" charset="0"/>
            </a:endParaRPr>
          </a:p>
          <a:p>
            <a:pPr marL="400050" lvl="1" indent="0">
              <a:lnSpc>
                <a:spcPct val="150000"/>
              </a:lnSpc>
              <a:buNone/>
            </a:pPr>
            <a:r>
              <a:rPr lang="zh-CN" altLang="zh-CN" sz="2400" b="1" dirty="0">
                <a:latin typeface="+mj-lt"/>
                <a:cs typeface="Times New Roman" panose="02020603050405020304" pitchFamily="18" charset="0"/>
              </a:rPr>
              <a:t>综合设计实验：</a:t>
            </a:r>
            <a:r>
              <a:rPr lang="zh-CN" altLang="en-US" sz="2400" b="1" dirty="0">
                <a:latin typeface="+mj-lt"/>
                <a:cs typeface="Times New Roman" panose="02020603050405020304" pitchFamily="18" charset="0"/>
              </a:rPr>
              <a:t>基于项目的单</a:t>
            </a:r>
            <a:r>
              <a:rPr lang="en-US" altLang="zh-CN" sz="2400" b="1" dirty="0">
                <a:latin typeface="+mj-lt"/>
                <a:cs typeface="Times New Roman" panose="02020603050405020304" pitchFamily="18" charset="0"/>
              </a:rPr>
              <a:t>/</a:t>
            </a:r>
            <a:r>
              <a:rPr lang="zh-CN" altLang="en-US" sz="2400" b="1" dirty="0">
                <a:latin typeface="+mj-lt"/>
                <a:cs typeface="Times New Roman" panose="02020603050405020304" pitchFamily="18" charset="0"/>
              </a:rPr>
              <a:t>双层</a:t>
            </a:r>
            <a:r>
              <a:rPr lang="zh-CN" altLang="zh-CN" sz="2400" b="1" dirty="0">
                <a:latin typeface="+mj-lt"/>
                <a:cs typeface="Times New Roman" panose="02020603050405020304" pitchFamily="18" charset="0"/>
              </a:rPr>
              <a:t>电路</a:t>
            </a:r>
            <a:r>
              <a:rPr lang="zh-CN" altLang="en-US" sz="2400" b="1" dirty="0">
                <a:latin typeface="+mj-lt"/>
                <a:cs typeface="Times New Roman" panose="02020603050405020304" pitchFamily="18" charset="0"/>
              </a:rPr>
              <a:t>板</a:t>
            </a:r>
            <a:r>
              <a:rPr lang="zh-CN" altLang="zh-CN" sz="2400" b="1" dirty="0">
                <a:latin typeface="+mj-lt"/>
                <a:cs typeface="Times New Roman" panose="02020603050405020304" pitchFamily="18" charset="0"/>
              </a:rPr>
              <a:t>设计（</a:t>
            </a:r>
            <a:r>
              <a:rPr lang="en-US" altLang="zh-CN" sz="2400" b="1" dirty="0">
                <a:latin typeface="+mj-lt"/>
                <a:cs typeface="Times New Roman" panose="02020603050405020304" pitchFamily="18" charset="0"/>
              </a:rPr>
              <a:t>6</a:t>
            </a:r>
            <a:r>
              <a:rPr lang="zh-CN" altLang="zh-CN" sz="2400" b="1" dirty="0">
                <a:latin typeface="+mj-lt"/>
                <a:cs typeface="Times New Roman" panose="02020603050405020304" pitchFamily="18" charset="0"/>
              </a:rPr>
              <a:t>学时</a:t>
            </a:r>
            <a:r>
              <a:rPr lang="zh-CN" altLang="en-US" sz="2400" b="1" dirty="0">
                <a:latin typeface="+mj-lt"/>
                <a:cs typeface="Times New Roman" panose="02020603050405020304" pitchFamily="18" charset="0"/>
              </a:rPr>
              <a:t>）</a:t>
            </a:r>
            <a:endParaRPr lang="zh-CN" altLang="zh-CN" sz="2400" b="1" dirty="0">
              <a:latin typeface="+mj-lt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01880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ctrTitle"/>
          </p:nvPr>
        </p:nvSpPr>
        <p:spPr>
          <a:xfrm>
            <a:off x="571472" y="2143116"/>
            <a:ext cx="7929564" cy="1643062"/>
          </a:xfrm>
        </p:spPr>
        <p:txBody>
          <a:bodyPr/>
          <a:lstStyle/>
          <a:p>
            <a:r>
              <a:rPr lang="zh-CN" altLang="en-US" sz="4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lang="en-US" altLang="zh-CN" sz="4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4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章 </a:t>
            </a:r>
            <a:r>
              <a:rPr lang="en-US" altLang="zh-CN" sz="4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PCB</a:t>
            </a:r>
            <a:r>
              <a:rPr lang="zh-CN" altLang="en-US" sz="4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与</a:t>
            </a:r>
            <a:br>
              <a:rPr lang="en-US" altLang="zh-CN" sz="4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4800" b="1" kern="1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Altium Designer</a:t>
            </a:r>
            <a:r>
              <a:rPr lang="zh-CN" altLang="en-US" sz="4800" b="1" kern="1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软件</a:t>
            </a:r>
            <a:endParaRPr lang="zh-CN" altLang="en-US" sz="480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FA43F6-4605-4C0A-81B1-10FE97950FCF}" type="slidenum">
              <a:rPr lang="zh-CN" altLang="en-US"/>
              <a:pPr>
                <a:defRPr/>
              </a:pPr>
              <a:t>5</a:t>
            </a:fld>
            <a:endParaRPr lang="zh-CN" altLang="en-US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79388" y="5949950"/>
            <a:ext cx="2952750" cy="765175"/>
            <a:chOff x="0" y="3702"/>
            <a:chExt cx="2426" cy="618"/>
          </a:xfrm>
        </p:grpSpPr>
        <p:pic>
          <p:nvPicPr>
            <p:cNvPr id="17414" name="Picture 3" descr="未命名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3702"/>
              <a:ext cx="748" cy="6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415" name="Picture 4" descr="未命名1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57" y="4020"/>
              <a:ext cx="1769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1.1  PCB-</a:t>
            </a:r>
            <a:r>
              <a:rPr lang="zh-CN" altLang="en-US" sz="3600" b="1" dirty="0">
                <a:solidFill>
                  <a:srgbClr val="FF0000"/>
                </a:solidFill>
              </a:rPr>
              <a:t>印制电路板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68760"/>
            <a:ext cx="8496944" cy="504056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印制电路板（</a:t>
            </a:r>
            <a:r>
              <a:rPr lang="en-US" altLang="zh-CN" sz="2400" b="1" dirty="0"/>
              <a:t>Printed circuit boards</a:t>
            </a:r>
            <a:r>
              <a:rPr lang="zh-CN" altLang="en-US" sz="2400" b="1" dirty="0"/>
              <a:t>）是电子元器件的支撑体也是电子元器件电气之间的连接提供者，它除了</a:t>
            </a:r>
            <a:r>
              <a:rPr lang="zh-CN" altLang="en-US" sz="2400" b="1" dirty="0">
                <a:solidFill>
                  <a:srgbClr val="FF0000"/>
                </a:solidFill>
              </a:rPr>
              <a:t>固定各种小电子元器件</a:t>
            </a:r>
            <a:r>
              <a:rPr lang="zh-CN" altLang="en-US" sz="2400" b="1" dirty="0"/>
              <a:t>的基本功能外，更主要的功能是</a:t>
            </a:r>
            <a:r>
              <a:rPr lang="zh-CN" altLang="en-US" sz="2400" b="1" dirty="0">
                <a:solidFill>
                  <a:srgbClr val="FF0000"/>
                </a:solidFill>
              </a:rPr>
              <a:t>提供上面各个电子元器件的相互连接</a:t>
            </a:r>
            <a:r>
              <a:rPr lang="zh-CN" altLang="en-US" sz="2400" b="1" dirty="0"/>
              <a:t>。印制电路板多用“</a:t>
            </a:r>
            <a:r>
              <a:rPr lang="en-US" altLang="zh-CN" sz="2400" b="1" dirty="0"/>
              <a:t>PCB”</a:t>
            </a:r>
            <a:r>
              <a:rPr lang="zh-CN" altLang="en-US" sz="2400" b="1" dirty="0"/>
              <a:t>来表示。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PCB</a:t>
            </a:r>
            <a:r>
              <a:rPr lang="zh-CN" altLang="en-US" sz="2400" b="1" dirty="0"/>
              <a:t>（印制电路板）设计主要是版图设计；按照线路板层数可分为单面板、双面板、</a:t>
            </a:r>
            <a:r>
              <a:rPr lang="zh-CN" altLang="en-US" sz="2400" b="1"/>
              <a:t>四层板以及</a:t>
            </a:r>
            <a:r>
              <a:rPr lang="zh-CN" altLang="en-US" sz="2400" b="1" dirty="0"/>
              <a:t>其他多层线路板。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我们通常说的印制电路板是指裸板，即没有焊上元器件的电路板。</a:t>
            </a:r>
          </a:p>
          <a:p>
            <a:pPr marL="0" indent="0">
              <a:lnSpc>
                <a:spcPct val="150000"/>
              </a:lnSpc>
              <a:buNone/>
            </a:pP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224510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b="1" dirty="0">
                <a:solidFill>
                  <a:srgbClr val="FF0000"/>
                </a:solidFill>
              </a:rPr>
              <a:t>1.2  Altium Designer</a:t>
            </a:r>
            <a:r>
              <a:rPr lang="zh-CN" altLang="en-US" sz="3600" b="1" dirty="0">
                <a:solidFill>
                  <a:srgbClr val="FF0000"/>
                </a:solidFill>
              </a:rPr>
              <a:t>简介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1417639"/>
            <a:ext cx="8329642" cy="4938712"/>
          </a:xfrm>
        </p:spPr>
        <p:txBody>
          <a:bodyPr rtlCol="0">
            <a:noAutofit/>
          </a:bodyPr>
          <a:lstStyle/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b="1" dirty="0"/>
              <a:t>            Altium Designer</a:t>
            </a:r>
            <a:r>
              <a:rPr lang="zh-CN" altLang="en-US" sz="2400" b="1" dirty="0"/>
              <a:t>是原</a:t>
            </a:r>
            <a:r>
              <a:rPr lang="en-US" altLang="zh-CN" sz="2400" b="1" dirty="0" err="1"/>
              <a:t>Protel</a:t>
            </a:r>
            <a:r>
              <a:rPr lang="zh-CN" altLang="en-US" sz="2400" b="1" dirty="0"/>
              <a:t>软件开发商</a:t>
            </a:r>
            <a:r>
              <a:rPr lang="en-US" altLang="zh-CN" sz="2400" b="1" dirty="0"/>
              <a:t>Altium</a:t>
            </a:r>
            <a:r>
              <a:rPr lang="zh-CN" altLang="en-US" sz="2400" b="1" dirty="0"/>
              <a:t>公司推出的一体化的电子产品开发系统，主要运行在</a:t>
            </a:r>
            <a:r>
              <a:rPr lang="en-US" altLang="zh-CN" sz="2400" b="1" dirty="0"/>
              <a:t>Windows</a:t>
            </a:r>
            <a:r>
              <a:rPr lang="zh-CN" altLang="en-US" sz="2400" b="1" dirty="0"/>
              <a:t>操作系统上。</a:t>
            </a:r>
            <a:endParaRPr lang="en-US" altLang="zh-CN" sz="2400" b="1" dirty="0"/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b="1" dirty="0"/>
              <a:t>             </a:t>
            </a:r>
            <a:r>
              <a:rPr lang="zh-CN" altLang="en-US" sz="2400" b="1" dirty="0"/>
              <a:t>这套软件通过把原理图输入、电路仿真、</a:t>
            </a:r>
            <a:r>
              <a:rPr lang="en-US" altLang="zh-CN" sz="2400" b="1" dirty="0"/>
              <a:t>PCB</a:t>
            </a:r>
            <a:r>
              <a:rPr lang="zh-CN" altLang="en-US" sz="2400" b="1" dirty="0"/>
              <a:t>设计、自动布线、信号完整性分析和设计输出等技术完美融合起来，为设计者提供了全新的解决方案，使设计者可以轻松进行印制电路板（</a:t>
            </a:r>
            <a:r>
              <a:rPr lang="en-US" altLang="zh-CN" sz="2400" b="1" dirty="0"/>
              <a:t>PCB</a:t>
            </a:r>
            <a:r>
              <a:rPr lang="zh-CN" altLang="en-US" sz="2400" b="1" dirty="0"/>
              <a:t>）设计，使得电路设计的质量和效率大大提高。</a:t>
            </a:r>
            <a:endParaRPr lang="en-US" altLang="zh-CN" sz="24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5FBE03-7C4E-44CC-B662-655645C14026}" type="slidenum">
              <a:rPr lang="zh-CN" altLang="en-US"/>
              <a:pPr>
                <a:defRPr/>
              </a:pPr>
              <a:t>7</a:t>
            </a:fld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835696" y="5086304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</a:rPr>
              <a:t>电路原理图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000760" y="5072074"/>
            <a:ext cx="1206466" cy="382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tx2"/>
                </a:solidFill>
              </a:rPr>
              <a:t>PCB</a:t>
            </a:r>
            <a:r>
              <a:rPr lang="zh-CN" altLang="en-US" b="1" dirty="0">
                <a:solidFill>
                  <a:schemeClr val="tx2"/>
                </a:solidFill>
              </a:rPr>
              <a:t>版图</a:t>
            </a:r>
          </a:p>
        </p:txBody>
      </p:sp>
      <p:sp>
        <p:nvSpPr>
          <p:cNvPr id="3" name="右箭头 2"/>
          <p:cNvSpPr/>
          <p:nvPr/>
        </p:nvSpPr>
        <p:spPr>
          <a:xfrm>
            <a:off x="3347864" y="5139818"/>
            <a:ext cx="1872208" cy="31939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837A9C6-CD71-4A6B-8274-F258407257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999777"/>
            <a:ext cx="3744416" cy="253632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8EE7286-1401-4D9F-8D4C-0FC3698FBF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1628800"/>
            <a:ext cx="4703712" cy="299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287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1.3 </a:t>
            </a:r>
            <a:r>
              <a:rPr lang="en-US" altLang="zh-CN" sz="3600" b="1" dirty="0">
                <a:solidFill>
                  <a:srgbClr val="FF0000"/>
                </a:solidFill>
              </a:rPr>
              <a:t> Altium Designer</a:t>
            </a:r>
            <a:r>
              <a:rPr lang="zh-CN" altLang="en-US" sz="3600" b="1" dirty="0">
                <a:solidFill>
                  <a:srgbClr val="FF0000"/>
                </a:solidFill>
              </a:rPr>
              <a:t>的安装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340768"/>
            <a:ext cx="8147248" cy="504056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100" b="1" dirty="0"/>
              <a:t>• </a:t>
            </a:r>
            <a:r>
              <a:rPr lang="zh-CN" altLang="en-US" sz="2100" b="1" dirty="0"/>
              <a:t>下载</a:t>
            </a:r>
            <a:r>
              <a:rPr lang="en-US" altLang="zh-CN" sz="2100" b="1" dirty="0"/>
              <a:t>Altium Designer</a:t>
            </a:r>
            <a:r>
              <a:rPr lang="zh-CN" altLang="en-US" sz="2100" b="1" dirty="0"/>
              <a:t>软件（</a:t>
            </a:r>
            <a:r>
              <a:rPr lang="en-US" altLang="zh-CN" sz="2100" b="1" dirty="0"/>
              <a:t>AD15-23</a:t>
            </a:r>
            <a:r>
              <a:rPr lang="zh-CN" altLang="en-US" sz="2100" b="1" dirty="0"/>
              <a:t>）：</a:t>
            </a:r>
            <a:endParaRPr lang="en-US" altLang="zh-CN" sz="2100" b="1" dirty="0"/>
          </a:p>
          <a:p>
            <a:pPr marL="400050" lvl="1" indent="0">
              <a:lnSpc>
                <a:spcPct val="150000"/>
              </a:lnSpc>
              <a:buNone/>
            </a:pPr>
            <a:r>
              <a:rPr lang="zh-CN" altLang="en-US" sz="2100" b="1" dirty="0"/>
              <a:t> 链接：</a:t>
            </a:r>
            <a:r>
              <a:rPr lang="en-US" altLang="zh-CN" sz="2100" b="1" dirty="0"/>
              <a:t> https://pan.baidu.com/s/1zB1MwoRT9NMz9p-YySE1rQ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zh-CN" altLang="en-US" sz="2100" b="1" dirty="0"/>
              <a:t>提取码：</a:t>
            </a:r>
            <a:r>
              <a:rPr lang="en-US" altLang="zh-CN" sz="2100" b="1" dirty="0"/>
              <a:t>8j6a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100" b="1" dirty="0"/>
              <a:t>• </a:t>
            </a:r>
            <a:r>
              <a:rPr lang="zh-CN" altLang="en-US" sz="2100" b="1" dirty="0"/>
              <a:t>安装完成将</a:t>
            </a:r>
            <a:r>
              <a:rPr lang="en-US" altLang="zh-CN" sz="2100" b="1" dirty="0" err="1"/>
              <a:t>shfolder.dl</a:t>
            </a:r>
            <a:r>
              <a:rPr lang="zh-CN" altLang="en-US" sz="2100" b="1" dirty="0"/>
              <a:t>文件拷贝至安装路径下，然后启动软件，在</a:t>
            </a:r>
            <a:r>
              <a:rPr lang="en-US" altLang="zh-CN" sz="2100" b="1" dirty="0">
                <a:solidFill>
                  <a:schemeClr val="accent1"/>
                </a:solidFill>
              </a:rPr>
              <a:t>License Management</a:t>
            </a:r>
            <a:r>
              <a:rPr lang="zh-CN" altLang="en-US" sz="2100" b="1" dirty="0"/>
              <a:t>标签页下方中间位置点击</a:t>
            </a:r>
            <a:r>
              <a:rPr lang="en-US" altLang="zh-CN" sz="2100" b="1" dirty="0"/>
              <a:t> </a:t>
            </a:r>
            <a:r>
              <a:rPr lang="en-US" altLang="zh-CN" sz="2100" b="1" dirty="0">
                <a:solidFill>
                  <a:schemeClr val="accent1"/>
                </a:solidFill>
              </a:rPr>
              <a:t>Add standalone </a:t>
            </a:r>
            <a:r>
              <a:rPr lang="en-US" altLang="zh-CN" sz="2100" b="1" dirty="0" err="1">
                <a:solidFill>
                  <a:schemeClr val="accent1"/>
                </a:solidFill>
              </a:rPr>
              <a:t>licence</a:t>
            </a:r>
            <a:r>
              <a:rPr lang="en-US" altLang="zh-CN" sz="2100" b="1" dirty="0">
                <a:solidFill>
                  <a:schemeClr val="accent1"/>
                </a:solidFill>
              </a:rPr>
              <a:t> file</a:t>
            </a:r>
            <a:r>
              <a:rPr lang="zh-CN" altLang="en-US" sz="2100" b="1" dirty="0"/>
              <a:t>，找到 </a:t>
            </a:r>
            <a:r>
              <a:rPr lang="en-US" altLang="zh-CN" sz="2100" b="1" dirty="0" err="1"/>
              <a:t>AltiumDesigner.alf</a:t>
            </a:r>
            <a:r>
              <a:rPr lang="zh-CN" altLang="en-US" sz="2100" b="1" dirty="0"/>
              <a:t>文件打开，破解完成。</a:t>
            </a:r>
            <a:endParaRPr lang="en-US" altLang="zh-CN" sz="21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100" b="1" dirty="0"/>
              <a:t>•</a:t>
            </a:r>
            <a:r>
              <a:rPr lang="zh-CN" altLang="en-US" sz="2100" b="1" dirty="0"/>
              <a:t>点击右上角的</a:t>
            </a:r>
            <a:r>
              <a:rPr lang="zh-CN" altLang="en-US" sz="2100" b="1" dirty="0">
                <a:solidFill>
                  <a:schemeClr val="accent1"/>
                </a:solidFill>
              </a:rPr>
              <a:t>齿轮</a:t>
            </a:r>
            <a:r>
              <a:rPr lang="zh-CN" altLang="en-US" sz="2100" b="1" dirty="0"/>
              <a:t>图标，在打开的对话框中的</a:t>
            </a:r>
            <a:r>
              <a:rPr lang="en-US" altLang="zh-CN" sz="2100" b="1" dirty="0">
                <a:solidFill>
                  <a:schemeClr val="accent1"/>
                </a:solidFill>
              </a:rPr>
              <a:t>System</a:t>
            </a:r>
            <a:r>
              <a:rPr lang="en-US" altLang="zh-CN" sz="2000" b="1" dirty="0">
                <a:solidFill>
                  <a:schemeClr val="accent1"/>
                </a:solidFill>
              </a:rPr>
              <a:t> </a:t>
            </a:r>
            <a:r>
              <a:rPr lang="en-US" altLang="zh-CN" sz="2000" b="1" dirty="0"/>
              <a:t>→</a:t>
            </a:r>
            <a:r>
              <a:rPr lang="en-US" altLang="zh-CN" sz="2000" b="1" dirty="0">
                <a:solidFill>
                  <a:schemeClr val="accent1"/>
                </a:solidFill>
              </a:rPr>
              <a:t> </a:t>
            </a:r>
            <a:r>
              <a:rPr lang="en-US" altLang="zh-CN" sz="2100" b="1" dirty="0">
                <a:solidFill>
                  <a:schemeClr val="accent1"/>
                </a:solidFill>
              </a:rPr>
              <a:t>General</a:t>
            </a:r>
            <a:r>
              <a:rPr lang="zh-CN" altLang="en-US" sz="2100" b="1" dirty="0"/>
              <a:t>下找到</a:t>
            </a:r>
            <a:r>
              <a:rPr lang="en-US" altLang="zh-CN" sz="2100" b="1" dirty="0">
                <a:solidFill>
                  <a:schemeClr val="accent1"/>
                </a:solidFill>
              </a:rPr>
              <a:t>Localization</a:t>
            </a:r>
            <a:r>
              <a:rPr lang="zh-CN" altLang="en-US" sz="2100" b="1" dirty="0"/>
              <a:t>，在</a:t>
            </a:r>
            <a:r>
              <a:rPr lang="en-US" altLang="zh-CN" sz="2100" b="1" dirty="0">
                <a:solidFill>
                  <a:schemeClr val="accent1"/>
                </a:solidFill>
              </a:rPr>
              <a:t>Use localized resources</a:t>
            </a:r>
            <a:r>
              <a:rPr lang="zh-CN" altLang="en-US" sz="2100" b="1" dirty="0"/>
              <a:t>上打对勾，可完成汉化。</a:t>
            </a:r>
            <a:endParaRPr lang="en-US" altLang="zh-CN" sz="2100" b="1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100" b="1" dirty="0">
                <a:solidFill>
                  <a:srgbClr val="3027DD"/>
                </a:solidFill>
              </a:rPr>
              <a:t> </a:t>
            </a:r>
            <a:r>
              <a:rPr lang="en-US" altLang="zh-CN" sz="2100" b="1" dirty="0">
                <a:solidFill>
                  <a:srgbClr val="7030A0"/>
                </a:solidFill>
              </a:rPr>
              <a:t>• </a:t>
            </a:r>
            <a:r>
              <a:rPr lang="zh-CN" altLang="en-US" sz="2100" b="1" dirty="0">
                <a:solidFill>
                  <a:srgbClr val="7030A0"/>
                </a:solidFill>
              </a:rPr>
              <a:t>练习</a:t>
            </a:r>
            <a:r>
              <a:rPr lang="en-US" altLang="zh-CN" sz="2100" b="1" dirty="0">
                <a:solidFill>
                  <a:srgbClr val="7030A0"/>
                </a:solidFill>
              </a:rPr>
              <a:t>1</a:t>
            </a:r>
            <a:r>
              <a:rPr lang="zh-CN" altLang="en-US" sz="2100" b="1" dirty="0">
                <a:solidFill>
                  <a:srgbClr val="7030A0"/>
                </a:solidFill>
              </a:rPr>
              <a:t>：安装</a:t>
            </a:r>
            <a:r>
              <a:rPr lang="en-US" altLang="zh-CN" sz="2100" b="1" dirty="0">
                <a:solidFill>
                  <a:srgbClr val="7030A0"/>
                </a:solidFill>
              </a:rPr>
              <a:t>Altium Designer</a:t>
            </a:r>
            <a:r>
              <a:rPr lang="zh-CN" altLang="en-US" sz="2100" b="1" dirty="0">
                <a:solidFill>
                  <a:srgbClr val="7030A0"/>
                </a:solidFill>
              </a:rPr>
              <a:t>软件 </a:t>
            </a:r>
          </a:p>
        </p:txBody>
      </p:sp>
    </p:spTree>
    <p:extLst>
      <p:ext uri="{BB962C8B-B14F-4D97-AF65-F5344CB8AC3E}">
        <p14:creationId xmlns:p14="http://schemas.microsoft.com/office/powerpoint/2010/main" val="967197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482834" y="274638"/>
            <a:ext cx="8203966" cy="77809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1.4</a:t>
            </a:r>
            <a:r>
              <a:rPr lang="en-US" altLang="zh-CN" sz="3600" b="1" dirty="0">
                <a:solidFill>
                  <a:srgbClr val="FF0000"/>
                </a:solidFill>
              </a:rPr>
              <a:t>  </a:t>
            </a:r>
            <a:r>
              <a:rPr lang="zh-CN" altLang="en-US" sz="3600" b="1" dirty="0">
                <a:solidFill>
                  <a:srgbClr val="FF0000"/>
                </a:solidFill>
              </a:rPr>
              <a:t>熟悉</a:t>
            </a:r>
            <a:r>
              <a:rPr lang="en-US" altLang="zh-CN" sz="3600" b="1" dirty="0" err="1">
                <a:solidFill>
                  <a:srgbClr val="FF0000"/>
                </a:solidFill>
              </a:rPr>
              <a:t>Altium</a:t>
            </a:r>
            <a:r>
              <a:rPr lang="en-US" altLang="zh-CN" sz="3600" b="1" dirty="0">
                <a:solidFill>
                  <a:srgbClr val="FF0000"/>
                </a:solidFill>
              </a:rPr>
              <a:t> Designer</a:t>
            </a:r>
            <a:r>
              <a:rPr lang="zh-CN" altLang="en-US" sz="3600" b="1" dirty="0">
                <a:solidFill>
                  <a:srgbClr val="FF0000"/>
                </a:solidFill>
              </a:rPr>
              <a:t>工作环境</a:t>
            </a:r>
            <a:endParaRPr lang="zh-CN" altLang="en-US" sz="3600" dirty="0"/>
          </a:p>
        </p:txBody>
      </p:sp>
      <p:sp>
        <p:nvSpPr>
          <p:cNvPr id="3" name="矩形 2"/>
          <p:cNvSpPr/>
          <p:nvPr/>
        </p:nvSpPr>
        <p:spPr>
          <a:xfrm>
            <a:off x="457200" y="1196752"/>
            <a:ext cx="53693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tx2"/>
                </a:solidFill>
              </a:rPr>
              <a:t>项目文件的管理和操作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482834" y="1700808"/>
            <a:ext cx="8435280" cy="492941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charset="0"/>
              <a:buNone/>
            </a:pPr>
            <a:r>
              <a:rPr lang="en-US" altLang="zh-CN" sz="2400" b="1" dirty="0"/>
              <a:t>• </a:t>
            </a:r>
            <a:r>
              <a:rPr lang="zh-CN" altLang="en-US" sz="2400" b="1" dirty="0"/>
              <a:t>项目文件和自由文件 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Font typeface="Arial" charset="0"/>
              <a:buNone/>
            </a:pPr>
            <a:r>
              <a:rPr lang="en-US" altLang="zh-CN" sz="2400" b="1" dirty="0"/>
              <a:t>• </a:t>
            </a:r>
            <a:r>
              <a:rPr lang="zh-CN" altLang="en-US" sz="2400" b="1" dirty="0"/>
              <a:t>项目文件的创建 </a:t>
            </a:r>
            <a:endParaRPr lang="en-US" altLang="zh-CN" sz="2400" b="1" dirty="0"/>
          </a:p>
          <a:p>
            <a:pPr marL="400050" lvl="1" indent="0">
              <a:lnSpc>
                <a:spcPct val="150000"/>
              </a:lnSpc>
              <a:buFont typeface="Arial" charset="0"/>
              <a:buNone/>
            </a:pPr>
            <a:r>
              <a:rPr lang="en-US" altLang="zh-CN" sz="2400" b="1" dirty="0"/>
              <a:t>• </a:t>
            </a:r>
            <a:r>
              <a:rPr lang="zh-CN" altLang="en-US" sz="2400" b="1" dirty="0"/>
              <a:t>新建保存项目的文件夹； </a:t>
            </a:r>
            <a:endParaRPr lang="en-US" altLang="zh-CN" sz="2400" b="1" dirty="0"/>
          </a:p>
          <a:p>
            <a:pPr marL="400050" lvl="1" indent="0">
              <a:lnSpc>
                <a:spcPct val="150000"/>
              </a:lnSpc>
              <a:buFont typeface="Arial" charset="0"/>
              <a:buNone/>
            </a:pPr>
            <a:r>
              <a:rPr lang="en-US" altLang="zh-CN" sz="2400" b="1" dirty="0"/>
              <a:t>• </a:t>
            </a:r>
            <a:r>
              <a:rPr lang="zh-CN" altLang="en-US" sz="2400" b="1" dirty="0"/>
              <a:t>单击</a:t>
            </a:r>
            <a:r>
              <a:rPr lang="zh-CN" altLang="en-US" sz="2400" b="1" dirty="0">
                <a:solidFill>
                  <a:schemeClr val="accent1"/>
                </a:solidFill>
              </a:rPr>
              <a:t>文件</a:t>
            </a:r>
            <a:r>
              <a:rPr lang="en-US" altLang="zh-CN" sz="2400" b="1" dirty="0"/>
              <a:t>→</a:t>
            </a:r>
            <a:r>
              <a:rPr lang="zh-CN" altLang="en-US" sz="2400" b="1" dirty="0">
                <a:solidFill>
                  <a:schemeClr val="accent1"/>
                </a:solidFill>
              </a:rPr>
              <a:t>新的</a:t>
            </a:r>
            <a:r>
              <a:rPr lang="en-US" altLang="zh-CN" sz="2400" b="1" dirty="0"/>
              <a:t>→</a:t>
            </a:r>
            <a:r>
              <a:rPr lang="zh-CN" altLang="en-US" sz="2400" b="1" dirty="0">
                <a:solidFill>
                  <a:schemeClr val="accent1"/>
                </a:solidFill>
              </a:rPr>
              <a:t>项目</a:t>
            </a:r>
            <a:r>
              <a:rPr lang="zh-CN" altLang="en-US" sz="2400" b="1" dirty="0"/>
              <a:t>，会弹出</a:t>
            </a:r>
            <a:r>
              <a:rPr lang="en-US" altLang="zh-CN" sz="2400" b="1" dirty="0"/>
              <a:t>Create Project</a:t>
            </a:r>
            <a:r>
              <a:rPr lang="zh-CN" altLang="en-US" sz="2400" b="1" dirty="0"/>
              <a:t>对话框，修改</a:t>
            </a:r>
            <a:r>
              <a:rPr lang="en-US" altLang="zh-CN" sz="2400" b="1" dirty="0"/>
              <a:t>Project Name</a:t>
            </a:r>
            <a:r>
              <a:rPr lang="zh-CN" altLang="en-US" sz="2400" b="1" dirty="0"/>
              <a:t>，修改路径到已创建好的文件夹，点击</a:t>
            </a:r>
            <a:r>
              <a:rPr lang="en-US" altLang="zh-CN" sz="2400" b="1" dirty="0">
                <a:solidFill>
                  <a:schemeClr val="accent1"/>
                </a:solidFill>
              </a:rPr>
              <a:t>Create</a:t>
            </a:r>
            <a:r>
              <a:rPr lang="zh-CN" altLang="en-US" sz="2400" b="1" dirty="0"/>
              <a:t>创建项目；</a:t>
            </a:r>
            <a:endParaRPr lang="en-US" altLang="zh-CN" sz="2400" b="1" dirty="0"/>
          </a:p>
          <a:p>
            <a:pPr marL="400050" lvl="1" indent="0">
              <a:lnSpc>
                <a:spcPct val="150000"/>
              </a:lnSpc>
              <a:buFont typeface="Arial" charset="0"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• </a:t>
            </a:r>
            <a:r>
              <a:rPr lang="zh-CN" altLang="en-US" sz="2400" b="1" dirty="0">
                <a:solidFill>
                  <a:srgbClr val="FF0000"/>
                </a:solidFill>
              </a:rPr>
              <a:t>注意：项目文件的后缀名为</a:t>
            </a:r>
            <a:r>
              <a:rPr lang="en-US" altLang="zh-CN" sz="2400" b="1" dirty="0" err="1">
                <a:solidFill>
                  <a:srgbClr val="FF0000"/>
                </a:solidFill>
              </a:rPr>
              <a:t>PrjPCB</a:t>
            </a:r>
            <a:r>
              <a:rPr lang="zh-CN" altLang="en-US" sz="2400" b="1" dirty="0">
                <a:solidFill>
                  <a:srgbClr val="FF0000"/>
                </a:solidFill>
              </a:rPr>
              <a:t>。 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4182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361459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/>
              <a:t>项目文件的关闭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 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   </a:t>
            </a:r>
            <a:r>
              <a:rPr lang="en-US" altLang="zh-CN" sz="2400" b="1" dirty="0"/>
              <a:t>• </a:t>
            </a:r>
            <a:r>
              <a:rPr lang="zh-CN" altLang="en-US" sz="2400" b="1" dirty="0"/>
              <a:t>右键单击项目文件，选择</a:t>
            </a:r>
            <a:r>
              <a:rPr lang="en-US" altLang="zh-CN" sz="2400" b="1" dirty="0">
                <a:solidFill>
                  <a:schemeClr val="accent1"/>
                </a:solidFill>
              </a:rPr>
              <a:t>Close Project</a:t>
            </a:r>
            <a:r>
              <a:rPr lang="zh-CN" altLang="en-US" sz="2400" b="1" dirty="0"/>
              <a:t>，关闭文件。 </a:t>
            </a:r>
            <a:endParaRPr lang="en-US" altLang="zh-CN" sz="24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/>
              <a:t>项目文件的打开 </a:t>
            </a:r>
            <a:endParaRPr lang="en-US" altLang="zh-CN" sz="2400" b="1" dirty="0"/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b="1" dirty="0"/>
              <a:t>• </a:t>
            </a:r>
            <a:r>
              <a:rPr lang="zh-CN" altLang="en-US" sz="2400" b="1" dirty="0"/>
              <a:t>单击</a:t>
            </a:r>
            <a:r>
              <a:rPr lang="zh-CN" altLang="en-US" sz="2400" b="1" dirty="0">
                <a:solidFill>
                  <a:schemeClr val="accent1"/>
                </a:solidFill>
              </a:rPr>
              <a:t>文件</a:t>
            </a:r>
            <a:r>
              <a:rPr lang="en-US" altLang="zh-CN" sz="2400" b="1" dirty="0"/>
              <a:t>→</a:t>
            </a:r>
            <a:r>
              <a:rPr lang="zh-CN" altLang="en-US" sz="2400" b="1" dirty="0">
                <a:solidFill>
                  <a:schemeClr val="accent1"/>
                </a:solidFill>
              </a:rPr>
              <a:t>打开</a:t>
            </a:r>
            <a:r>
              <a:rPr lang="zh-CN" altLang="en-US" sz="2400" b="1" dirty="0"/>
              <a:t>，找到需要打开的项目文件打开。</a:t>
            </a:r>
            <a:endParaRPr lang="en-US" altLang="zh-CN" sz="2400" b="1" dirty="0"/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• </a:t>
            </a:r>
            <a:r>
              <a:rPr lang="zh-CN" altLang="en-US" sz="2400" b="1" dirty="0">
                <a:solidFill>
                  <a:srgbClr val="FF0000"/>
                </a:solidFill>
              </a:rPr>
              <a:t>注意：点击</a:t>
            </a:r>
            <a:r>
              <a:rPr lang="zh-CN" altLang="en-US" sz="2400" b="1" dirty="0">
                <a:solidFill>
                  <a:schemeClr val="accent1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→</a:t>
            </a:r>
            <a:r>
              <a:rPr lang="zh-CN" altLang="en-US" sz="2400" b="1" dirty="0">
                <a:solidFill>
                  <a:schemeClr val="accent1"/>
                </a:solidFill>
              </a:rPr>
              <a:t>打开</a:t>
            </a:r>
            <a:r>
              <a:rPr lang="zh-CN" altLang="en-US" sz="2400" b="1" dirty="0">
                <a:solidFill>
                  <a:srgbClr val="FF0000"/>
                </a:solidFill>
              </a:rPr>
              <a:t>可以打开各种文件（也包括项目文件），如果找不到项目文件，就需要检查一下文件类型是否为</a:t>
            </a:r>
            <a:r>
              <a:rPr lang="en-US" altLang="zh-CN" sz="2400" b="1" dirty="0" err="1">
                <a:solidFill>
                  <a:srgbClr val="FF0000"/>
                </a:solidFill>
              </a:rPr>
              <a:t>PrjPCB</a:t>
            </a: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</a:rPr>
              <a:t>。 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solidFill>
                  <a:srgbClr val="3027DD"/>
                </a:solidFill>
              </a:rPr>
              <a:t>• </a:t>
            </a:r>
            <a:r>
              <a:rPr lang="zh-CN" altLang="en-US" sz="2400" b="1" dirty="0">
                <a:solidFill>
                  <a:srgbClr val="3027DD"/>
                </a:solidFill>
              </a:rPr>
              <a:t>练习</a:t>
            </a:r>
            <a:r>
              <a:rPr lang="en-US" altLang="zh-CN" sz="2400" b="1" dirty="0">
                <a:solidFill>
                  <a:srgbClr val="3027DD"/>
                </a:solidFill>
              </a:rPr>
              <a:t>2</a:t>
            </a:r>
            <a:r>
              <a:rPr lang="zh-CN" altLang="en-US" sz="2400" b="1" dirty="0">
                <a:solidFill>
                  <a:srgbClr val="3027DD"/>
                </a:solidFill>
              </a:rPr>
              <a:t>：练习项目文件的创建、关闭和打开 </a:t>
            </a:r>
          </a:p>
        </p:txBody>
      </p:sp>
    </p:spTree>
    <p:extLst>
      <p:ext uri="{BB962C8B-B14F-4D97-AF65-F5344CB8AC3E}">
        <p14:creationId xmlns:p14="http://schemas.microsoft.com/office/powerpoint/2010/main" val="1544030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49144" y="342551"/>
            <a:ext cx="3346792" cy="657176"/>
          </a:xfrm>
        </p:spPr>
        <p:txBody>
          <a:bodyPr>
            <a:normAutofit/>
          </a:bodyPr>
          <a:lstStyle/>
          <a:p>
            <a:pPr algn="just"/>
            <a:r>
              <a:rPr lang="zh-CN" altLang="en-US" sz="3200" b="1" dirty="0">
                <a:solidFill>
                  <a:schemeClr val="tx2"/>
                </a:solidFill>
              </a:rPr>
              <a:t>设计流程</a:t>
            </a:r>
          </a:p>
        </p:txBody>
      </p:sp>
      <p:sp>
        <p:nvSpPr>
          <p:cNvPr id="6" name="流程图: 决策 5"/>
          <p:cNvSpPr/>
          <p:nvPr/>
        </p:nvSpPr>
        <p:spPr>
          <a:xfrm>
            <a:off x="1043608" y="2434528"/>
            <a:ext cx="2845167" cy="94678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原理图库</a:t>
            </a:r>
            <a:endParaRPr lang="en-US" altLang="zh-CN" b="1" dirty="0"/>
          </a:p>
          <a:p>
            <a:pPr algn="ctr"/>
            <a:r>
              <a:rPr lang="zh-CN" altLang="en-US" b="1" dirty="0"/>
              <a:t>元器件制作？</a:t>
            </a:r>
          </a:p>
        </p:txBody>
      </p:sp>
      <p:sp>
        <p:nvSpPr>
          <p:cNvPr id="7" name="矩形 6"/>
          <p:cNvSpPr/>
          <p:nvPr/>
        </p:nvSpPr>
        <p:spPr>
          <a:xfrm>
            <a:off x="1437229" y="3838688"/>
            <a:ext cx="2232000" cy="72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创建原理图库文件</a:t>
            </a:r>
            <a:endParaRPr lang="en-US" altLang="zh-CN" b="1" dirty="0"/>
          </a:p>
          <a:p>
            <a:pPr algn="ctr"/>
            <a:r>
              <a:rPr lang="zh-CN" altLang="en-US" b="1" dirty="0"/>
              <a:t>制作元器件</a:t>
            </a:r>
            <a:endParaRPr lang="en-US" altLang="zh-CN" b="1" dirty="0"/>
          </a:p>
        </p:txBody>
      </p:sp>
      <p:sp>
        <p:nvSpPr>
          <p:cNvPr id="8" name="矩形 7"/>
          <p:cNvSpPr/>
          <p:nvPr/>
        </p:nvSpPr>
        <p:spPr>
          <a:xfrm>
            <a:off x="1793289" y="5261258"/>
            <a:ext cx="1410559" cy="576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原理图设计 </a:t>
            </a:r>
          </a:p>
        </p:txBody>
      </p:sp>
      <p:sp>
        <p:nvSpPr>
          <p:cNvPr id="9" name="流程图: 决策 8"/>
          <p:cNvSpPr/>
          <p:nvPr/>
        </p:nvSpPr>
        <p:spPr>
          <a:xfrm>
            <a:off x="5423140" y="1533878"/>
            <a:ext cx="2744861" cy="818722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PCB</a:t>
            </a:r>
            <a:r>
              <a:rPr lang="zh-CN" altLang="en-US" b="1" dirty="0"/>
              <a:t>元器件封装制作？</a:t>
            </a:r>
          </a:p>
        </p:txBody>
      </p:sp>
      <p:sp>
        <p:nvSpPr>
          <p:cNvPr id="10" name="矩形 9"/>
          <p:cNvSpPr/>
          <p:nvPr/>
        </p:nvSpPr>
        <p:spPr>
          <a:xfrm flipH="1">
            <a:off x="5679949" y="2713970"/>
            <a:ext cx="2231245" cy="7471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创建封装库文件</a:t>
            </a:r>
            <a:endParaRPr lang="en-US" altLang="zh-CN" b="1" dirty="0"/>
          </a:p>
          <a:p>
            <a:pPr algn="ctr"/>
            <a:r>
              <a:rPr lang="zh-CN" altLang="en-US" b="1" dirty="0"/>
              <a:t>制作元器件封装</a:t>
            </a:r>
          </a:p>
        </p:txBody>
      </p:sp>
      <p:sp>
        <p:nvSpPr>
          <p:cNvPr id="11" name="矩形 10"/>
          <p:cNvSpPr/>
          <p:nvPr/>
        </p:nvSpPr>
        <p:spPr>
          <a:xfrm>
            <a:off x="5902239" y="3998003"/>
            <a:ext cx="1786667" cy="576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PCB</a:t>
            </a:r>
            <a:r>
              <a:rPr lang="zh-CN" altLang="en-US" b="1" dirty="0"/>
              <a:t>版图设计</a:t>
            </a:r>
            <a:endParaRPr lang="en-US" altLang="zh-CN" b="1" dirty="0"/>
          </a:p>
        </p:txBody>
      </p:sp>
      <p:cxnSp>
        <p:nvCxnSpPr>
          <p:cNvPr id="14" name="直接箭头连接符 13"/>
          <p:cNvCxnSpPr/>
          <p:nvPr/>
        </p:nvCxnSpPr>
        <p:spPr>
          <a:xfrm flipH="1">
            <a:off x="2504602" y="1822169"/>
            <a:ext cx="0" cy="61235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2504602" y="3402897"/>
            <a:ext cx="0" cy="44479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2504602" y="4574649"/>
            <a:ext cx="0" cy="69018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/>
          <p:nvPr/>
        </p:nvCxnSpPr>
        <p:spPr>
          <a:xfrm>
            <a:off x="6807454" y="3461140"/>
            <a:ext cx="2" cy="53686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/>
          <p:nvPr/>
        </p:nvCxnSpPr>
        <p:spPr>
          <a:xfrm>
            <a:off x="6807455" y="2352600"/>
            <a:ext cx="0" cy="36137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 flipH="1">
            <a:off x="2504602" y="5834942"/>
            <a:ext cx="0" cy="4320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/>
          <p:cNvCxnSpPr/>
          <p:nvPr/>
        </p:nvCxnSpPr>
        <p:spPr>
          <a:xfrm>
            <a:off x="2504602" y="6266942"/>
            <a:ext cx="2204538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 flipV="1">
            <a:off x="4700997" y="1033748"/>
            <a:ext cx="0" cy="523912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 flipV="1">
            <a:off x="4709140" y="1030298"/>
            <a:ext cx="2109824" cy="345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/>
          <p:cNvCxnSpPr/>
          <p:nvPr/>
        </p:nvCxnSpPr>
        <p:spPr>
          <a:xfrm>
            <a:off x="6807455" y="1030298"/>
            <a:ext cx="0" cy="49252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/>
          <p:cNvCxnSpPr>
            <a:stCxn id="6" idx="3"/>
          </p:cNvCxnSpPr>
          <p:nvPr/>
        </p:nvCxnSpPr>
        <p:spPr>
          <a:xfrm>
            <a:off x="3888775" y="2907923"/>
            <a:ext cx="25154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连接符 121"/>
          <p:cNvCxnSpPr/>
          <p:nvPr/>
        </p:nvCxnSpPr>
        <p:spPr>
          <a:xfrm>
            <a:off x="4147991" y="2895992"/>
            <a:ext cx="1" cy="201181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/>
          <p:cNvCxnSpPr/>
          <p:nvPr/>
        </p:nvCxnSpPr>
        <p:spPr>
          <a:xfrm flipH="1">
            <a:off x="2527072" y="4903246"/>
            <a:ext cx="162091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文本框 124"/>
          <p:cNvSpPr txBox="1"/>
          <p:nvPr/>
        </p:nvSpPr>
        <p:spPr>
          <a:xfrm>
            <a:off x="6925307" y="2281215"/>
            <a:ext cx="28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Y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8140631" y="1578991"/>
            <a:ext cx="326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N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2566739" y="3440627"/>
            <a:ext cx="28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Y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3836365" y="2571889"/>
            <a:ext cx="28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N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30" name="直接连接符 129"/>
          <p:cNvCxnSpPr/>
          <p:nvPr/>
        </p:nvCxnSpPr>
        <p:spPr>
          <a:xfrm flipH="1">
            <a:off x="8145166" y="1943239"/>
            <a:ext cx="36564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连接符 131"/>
          <p:cNvCxnSpPr/>
          <p:nvPr/>
        </p:nvCxnSpPr>
        <p:spPr>
          <a:xfrm>
            <a:off x="8510807" y="1927711"/>
            <a:ext cx="0" cy="1801860"/>
          </a:xfrm>
          <a:prstGeom prst="line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/>
          <p:cNvCxnSpPr/>
          <p:nvPr/>
        </p:nvCxnSpPr>
        <p:spPr>
          <a:xfrm flipH="1">
            <a:off x="6795571" y="3722460"/>
            <a:ext cx="1715237" cy="711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811967" y="2307462"/>
            <a:ext cx="3632932" cy="3785834"/>
          </a:xfrm>
          <a:prstGeom prst="rect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5046010" y="1196752"/>
            <a:ext cx="3973715" cy="3722988"/>
          </a:xfrm>
          <a:prstGeom prst="rect">
            <a:avLst/>
          </a:prstGeom>
          <a:noFill/>
          <a:ln w="5715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811968" y="3065375"/>
            <a:ext cx="461665" cy="167305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电路原理图设计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10807" y="1880945"/>
            <a:ext cx="461665" cy="11071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b="1" dirty="0">
                <a:solidFill>
                  <a:schemeClr val="tx2"/>
                </a:solidFill>
              </a:rPr>
              <a:t>PCB</a:t>
            </a:r>
            <a:r>
              <a:rPr lang="zh-CN" altLang="en-US" b="1" dirty="0">
                <a:solidFill>
                  <a:schemeClr val="tx2"/>
                </a:solidFill>
              </a:rPr>
              <a:t>设计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1477701" y="1216645"/>
            <a:ext cx="1976979" cy="6123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建立项目*</a:t>
            </a:r>
            <a:r>
              <a:rPr lang="en-US" altLang="zh-CN" dirty="0"/>
              <a:t>.</a:t>
            </a:r>
            <a:r>
              <a:rPr lang="en-US" altLang="zh-CN" dirty="0" err="1"/>
              <a:t>PrjPcb</a:t>
            </a:r>
            <a:endParaRPr lang="en-US" altLang="zh-CN" dirty="0"/>
          </a:p>
        </p:txBody>
      </p:sp>
      <p:sp>
        <p:nvSpPr>
          <p:cNvPr id="44" name="圆角矩形 43"/>
          <p:cNvSpPr/>
          <p:nvPr/>
        </p:nvSpPr>
        <p:spPr>
          <a:xfrm>
            <a:off x="6147499" y="5265477"/>
            <a:ext cx="1296144" cy="5896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保存项目</a:t>
            </a:r>
          </a:p>
        </p:txBody>
      </p:sp>
      <p:cxnSp>
        <p:nvCxnSpPr>
          <p:cNvPr id="142" name="直接箭头连接符 141"/>
          <p:cNvCxnSpPr/>
          <p:nvPr/>
        </p:nvCxnSpPr>
        <p:spPr>
          <a:xfrm>
            <a:off x="6807455" y="4555510"/>
            <a:ext cx="0" cy="68633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715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5" grpId="0"/>
      <p:bldP spid="126" grpId="0"/>
      <p:bldP spid="127" grpId="0"/>
      <p:bldP spid="128" grpId="0"/>
      <p:bldP spid="33" grpId="0" animBg="1"/>
      <p:bldP spid="34" grpId="0" animBg="1"/>
      <p:bldP spid="35" grpId="0"/>
      <p:bldP spid="37" grpId="0"/>
      <p:bldP spid="43" grpId="0" animBg="1"/>
      <p:bldP spid="4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692696"/>
            <a:ext cx="5957080" cy="34554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953454" y="691712"/>
            <a:ext cx="1872208" cy="21602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953454" y="2078604"/>
            <a:ext cx="1346448" cy="216024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958385" y="1806968"/>
            <a:ext cx="1872208" cy="21602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5571977" y="838072"/>
            <a:ext cx="1656184" cy="36004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5825662" y="1286516"/>
            <a:ext cx="1584176" cy="648072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7193814" y="1070492"/>
            <a:ext cx="1800200" cy="4320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b="1" dirty="0"/>
              <a:t>电路原理图设计</a:t>
            </a:r>
          </a:p>
        </p:txBody>
      </p:sp>
      <p:sp>
        <p:nvSpPr>
          <p:cNvPr id="12" name="矩形 11"/>
          <p:cNvSpPr/>
          <p:nvPr/>
        </p:nvSpPr>
        <p:spPr>
          <a:xfrm>
            <a:off x="3953454" y="962480"/>
            <a:ext cx="1346448" cy="216024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5230295" y="2225304"/>
            <a:ext cx="2179543" cy="442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230295" y="1090100"/>
            <a:ext cx="2179543" cy="9786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7193814" y="2022992"/>
            <a:ext cx="1800200" cy="379648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PCB</a:t>
            </a:r>
            <a:r>
              <a:rPr lang="zh-CN" altLang="en-US" b="1" dirty="0"/>
              <a:t>设计</a:t>
            </a:r>
          </a:p>
        </p:txBody>
      </p:sp>
      <p:sp>
        <p:nvSpPr>
          <p:cNvPr id="20" name="内容占位符 2"/>
          <p:cNvSpPr txBox="1">
            <a:spLocks/>
          </p:cNvSpPr>
          <p:nvPr/>
        </p:nvSpPr>
        <p:spPr>
          <a:xfrm>
            <a:off x="395536" y="4138234"/>
            <a:ext cx="8136904" cy="271976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200"/>
              </a:lnSpc>
              <a:buFont typeface="Arial" charset="0"/>
              <a:buNone/>
            </a:pPr>
            <a:r>
              <a:rPr lang="zh-CN" altLang="en-US" sz="2000" b="1" dirty="0"/>
              <a:t>电路原理图设计</a:t>
            </a:r>
            <a:endParaRPr lang="en-US" altLang="zh-CN" sz="2000" b="1" dirty="0"/>
          </a:p>
          <a:p>
            <a:pPr marL="0" indent="0">
              <a:lnSpc>
                <a:spcPts val="3200"/>
              </a:lnSpc>
              <a:buFont typeface="Arial" charset="0"/>
              <a:buNone/>
            </a:pPr>
            <a:r>
              <a:rPr lang="en-US" altLang="zh-CN" sz="2000" b="1" dirty="0"/>
              <a:t>        • Schematic library</a:t>
            </a:r>
            <a:r>
              <a:rPr lang="zh-CN" altLang="en-US" sz="2000" b="1" dirty="0"/>
              <a:t>（原理图库）文件后缀名为</a:t>
            </a:r>
            <a:r>
              <a:rPr lang="en-US" altLang="zh-CN" sz="2000" b="1" dirty="0" err="1"/>
              <a:t>xx.</a:t>
            </a:r>
            <a:r>
              <a:rPr lang="en-US" altLang="zh-CN" sz="2000" b="1" dirty="0" err="1">
                <a:solidFill>
                  <a:srgbClr val="FF0000"/>
                </a:solidFill>
              </a:rPr>
              <a:t>Schlib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0" indent="0">
              <a:lnSpc>
                <a:spcPts val="3200"/>
              </a:lnSpc>
              <a:buFont typeface="Arial" charset="0"/>
              <a:buNone/>
            </a:pPr>
            <a:r>
              <a:rPr lang="en-US" altLang="zh-CN" sz="2000" b="1" dirty="0"/>
              <a:t>        • Schematic</a:t>
            </a:r>
            <a:r>
              <a:rPr lang="zh-CN" altLang="en-US" sz="2000" b="1" dirty="0"/>
              <a:t>（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原理图文件）后缀名为</a:t>
            </a:r>
            <a:r>
              <a:rPr lang="en-US" altLang="zh-CN" sz="2000" b="1" dirty="0" err="1"/>
              <a:t>xx.</a:t>
            </a:r>
            <a:r>
              <a:rPr lang="en-US" altLang="zh-CN" sz="2000" b="1" dirty="0" err="1">
                <a:solidFill>
                  <a:srgbClr val="FF0000"/>
                </a:solidFill>
              </a:rPr>
              <a:t>SchDoc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0" indent="0">
              <a:lnSpc>
                <a:spcPts val="3200"/>
              </a:lnSpc>
              <a:buFont typeface="Arial" charset="0"/>
              <a:buNone/>
            </a:pPr>
            <a:r>
              <a:rPr lang="en-US" altLang="zh-CN" sz="2000" b="1" dirty="0"/>
              <a:t>PCB</a:t>
            </a:r>
            <a:r>
              <a:rPr lang="zh-CN" altLang="en-US" sz="2000" b="1" dirty="0"/>
              <a:t>设计</a:t>
            </a:r>
            <a:endParaRPr lang="en-US" altLang="zh-CN" sz="2000" b="1" dirty="0"/>
          </a:p>
          <a:p>
            <a:pPr marL="0" indent="0">
              <a:lnSpc>
                <a:spcPts val="3200"/>
              </a:lnSpc>
              <a:buFont typeface="Arial" charset="0"/>
              <a:buNone/>
            </a:pPr>
            <a:r>
              <a:rPr lang="en-US" altLang="zh-CN" sz="2000" b="1" dirty="0"/>
              <a:t>        • PCB Library</a:t>
            </a:r>
            <a:r>
              <a:rPr lang="zh-CN" altLang="en-US" sz="2000" b="1" dirty="0"/>
              <a:t>（</a:t>
            </a:r>
            <a:r>
              <a:rPr lang="en-US" altLang="zh-CN" sz="2000" b="1" dirty="0"/>
              <a:t>PCB</a:t>
            </a:r>
            <a:r>
              <a:rPr lang="zh-CN" altLang="en-US" sz="2000" b="1" dirty="0"/>
              <a:t>封装库）文件后缀名为</a:t>
            </a:r>
            <a:r>
              <a:rPr lang="en-US" altLang="zh-CN" sz="2000" b="1" dirty="0" err="1"/>
              <a:t>xx.</a:t>
            </a:r>
            <a:r>
              <a:rPr lang="en-US" altLang="zh-CN" sz="2000" b="1" dirty="0" err="1">
                <a:solidFill>
                  <a:srgbClr val="FF0000"/>
                </a:solidFill>
              </a:rPr>
              <a:t>PcbLib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0" indent="0">
              <a:lnSpc>
                <a:spcPts val="3200"/>
              </a:lnSpc>
              <a:buFont typeface="Arial" charset="0"/>
              <a:buNone/>
            </a:pPr>
            <a:r>
              <a:rPr lang="en-US" altLang="zh-CN" sz="2000" b="1" dirty="0"/>
              <a:t>        • PCB</a:t>
            </a:r>
            <a:r>
              <a:rPr lang="zh-CN" altLang="en-US" sz="2000" b="1" dirty="0"/>
              <a:t>（</a:t>
            </a:r>
            <a:r>
              <a:rPr lang="en-US" altLang="zh-CN" sz="2000" b="1" dirty="0"/>
              <a:t>PCB</a:t>
            </a:r>
            <a:r>
              <a:rPr lang="zh-CN" altLang="en-US" sz="2000" b="1" dirty="0"/>
              <a:t>版图设计）文件后缀名为</a:t>
            </a:r>
            <a:r>
              <a:rPr lang="en-US" altLang="zh-CN" sz="2000" b="1" dirty="0" err="1"/>
              <a:t>xx.</a:t>
            </a:r>
            <a:r>
              <a:rPr lang="en-US" altLang="zh-CN" sz="2000" b="1" dirty="0" err="1">
                <a:solidFill>
                  <a:srgbClr val="FF0000"/>
                </a:solidFill>
              </a:rPr>
              <a:t>PcbDoc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280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3528" y="1628801"/>
            <a:ext cx="8136904" cy="1944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  右键单击项目文件，选择</a:t>
            </a:r>
            <a:r>
              <a:rPr lang="en-US" altLang="zh-CN" sz="2000" b="1" dirty="0">
                <a:solidFill>
                  <a:schemeClr val="accent1"/>
                </a:solidFill>
              </a:rPr>
              <a:t>Schematic</a:t>
            </a:r>
            <a:r>
              <a:rPr lang="zh-CN" altLang="en-US" sz="2000" b="1" dirty="0"/>
              <a:t>（原理图）、</a:t>
            </a:r>
            <a:r>
              <a:rPr lang="en-US" altLang="zh-CN" sz="2000" b="1" dirty="0">
                <a:solidFill>
                  <a:schemeClr val="accent1"/>
                </a:solidFill>
              </a:rPr>
              <a:t>PCB</a:t>
            </a:r>
            <a:r>
              <a:rPr lang="zh-CN" altLang="en-US" sz="2000" b="1" dirty="0"/>
              <a:t>、</a:t>
            </a:r>
            <a:r>
              <a:rPr lang="en-US" altLang="zh-CN" sz="2000" b="1" dirty="0">
                <a:solidFill>
                  <a:schemeClr val="accent1"/>
                </a:solidFill>
              </a:rPr>
              <a:t>Schematic Library</a:t>
            </a:r>
            <a:r>
              <a:rPr lang="zh-CN" altLang="en-US" sz="2000" b="1" dirty="0"/>
              <a:t>（原理图库）、</a:t>
            </a:r>
            <a:r>
              <a:rPr lang="en-US" altLang="zh-CN" sz="2000" b="1" dirty="0">
                <a:solidFill>
                  <a:schemeClr val="accent1"/>
                </a:solidFill>
              </a:rPr>
              <a:t>PCB Library</a:t>
            </a:r>
            <a:r>
              <a:rPr lang="zh-CN" altLang="en-US" sz="2000" b="1" dirty="0"/>
              <a:t>（</a:t>
            </a:r>
            <a:r>
              <a:rPr lang="en-US" altLang="zh-CN" sz="2000" b="1" dirty="0"/>
              <a:t>PCB</a:t>
            </a:r>
            <a:r>
              <a:rPr lang="zh-CN" altLang="en-US" sz="2000" b="1" dirty="0"/>
              <a:t>库）打开相应的软件操作界面，在打开相应</a:t>
            </a:r>
            <a:r>
              <a:rPr lang="zh-CN" altLang="en-US" sz="2000" b="1" dirty="0">
                <a:solidFill>
                  <a:srgbClr val="FF0000"/>
                </a:solidFill>
              </a:rPr>
              <a:t>库</a:t>
            </a:r>
            <a:r>
              <a:rPr lang="zh-CN" altLang="en-US" sz="2000" b="1" dirty="0"/>
              <a:t>文件操作界面时，可以通过左下角的箭头回到</a:t>
            </a:r>
            <a:r>
              <a:rPr lang="en-US" altLang="zh-CN" sz="2000" b="1" dirty="0"/>
              <a:t>Projects</a:t>
            </a:r>
            <a:r>
              <a:rPr lang="zh-CN" altLang="en-US" sz="2000" b="1" dirty="0"/>
              <a:t>标签页。</a:t>
            </a:r>
            <a:endParaRPr lang="en-US" altLang="zh-CN" sz="2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091" y="3883922"/>
            <a:ext cx="2667000" cy="390525"/>
          </a:xfrm>
          <a:prstGeom prst="rect">
            <a:avLst/>
          </a:prstGeom>
        </p:spPr>
      </p:pic>
      <p:cxnSp>
        <p:nvCxnSpPr>
          <p:cNvPr id="5" name="直接箭头连接符 4"/>
          <p:cNvCxnSpPr/>
          <p:nvPr/>
        </p:nvCxnSpPr>
        <p:spPr>
          <a:xfrm flipH="1">
            <a:off x="5465890" y="3034013"/>
            <a:ext cx="1585997" cy="849909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5000091" y="3786884"/>
            <a:ext cx="730424" cy="487563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804248" y="2673973"/>
            <a:ext cx="495279" cy="36004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906804"/>
            <a:ext cx="835412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b="1" dirty="0"/>
              <a:t>打开</a:t>
            </a:r>
            <a:r>
              <a:rPr lang="en-US" altLang="zh-CN" sz="2200" b="1" dirty="0"/>
              <a:t>Schematic</a:t>
            </a:r>
            <a:r>
              <a:rPr lang="zh-CN" altLang="en-US" sz="2200" b="1" dirty="0"/>
              <a:t>、</a:t>
            </a:r>
            <a:r>
              <a:rPr lang="en-US" altLang="zh-CN" sz="2200" b="1" dirty="0"/>
              <a:t>PCB</a:t>
            </a:r>
            <a:r>
              <a:rPr lang="zh-CN" altLang="en-US" sz="2200" b="1" dirty="0"/>
              <a:t>、</a:t>
            </a:r>
            <a:r>
              <a:rPr lang="en-US" altLang="zh-CN" sz="2200" b="1" dirty="0"/>
              <a:t>Schematic Library</a:t>
            </a:r>
            <a:r>
              <a:rPr lang="zh-CN" altLang="en-US" sz="2200" b="1" dirty="0"/>
              <a:t>及</a:t>
            </a:r>
            <a:r>
              <a:rPr lang="en-US" altLang="zh-CN" sz="2200" b="1" dirty="0"/>
              <a:t>PCB Library</a:t>
            </a:r>
            <a:r>
              <a:rPr lang="zh-CN" altLang="en-US" sz="2200" b="1" dirty="0"/>
              <a:t>文件</a:t>
            </a: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804985805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8446</TotalTime>
  <Words>925</Words>
  <Application>Microsoft Office PowerPoint</Application>
  <PresentationFormat>全屏显示(4:3)</PresentationFormat>
  <Paragraphs>89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黑体</vt:lpstr>
      <vt:lpstr>宋体</vt:lpstr>
      <vt:lpstr>Arial</vt:lpstr>
      <vt:lpstr>Calibri</vt:lpstr>
      <vt:lpstr>Times New Roman</vt:lpstr>
      <vt:lpstr>Wingdings</vt:lpstr>
      <vt:lpstr>Wingdings 2</vt:lpstr>
      <vt:lpstr>自定义设计方案</vt:lpstr>
      <vt:lpstr>PCB（印制电路板）设计</vt:lpstr>
      <vt:lpstr>《PCB（印制电路板）设计》 </vt:lpstr>
      <vt:lpstr>课程概述 </vt:lpstr>
      <vt:lpstr>PowerPoint 演示文稿</vt:lpstr>
      <vt:lpstr>第1章 PCB与 Altium Designer软件</vt:lpstr>
      <vt:lpstr>1.1  PCB-印制电路板</vt:lpstr>
      <vt:lpstr>1.2  Altium Designer简介</vt:lpstr>
      <vt:lpstr>PowerPoint 演示文稿</vt:lpstr>
      <vt:lpstr>1.3  Altium Designer的安装</vt:lpstr>
      <vt:lpstr>PowerPoint 演示文稿</vt:lpstr>
      <vt:lpstr>PowerPoint 演示文稿</vt:lpstr>
      <vt:lpstr>设计流程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辉</dc:creator>
  <cp:lastModifiedBy>Lenovo</cp:lastModifiedBy>
  <cp:revision>502</cp:revision>
  <dcterms:created xsi:type="dcterms:W3CDTF">2010-04-06T01:43:18Z</dcterms:created>
  <dcterms:modified xsi:type="dcterms:W3CDTF">2024-03-05T12:16:20Z</dcterms:modified>
</cp:coreProperties>
</file>