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</p:sldMasterIdLst>
  <p:notesMasterIdLst>
    <p:notesMasterId r:id="rId37"/>
  </p:notesMasterIdLst>
  <p:sldIdLst>
    <p:sldId id="505" r:id="rId2"/>
    <p:sldId id="691" r:id="rId3"/>
    <p:sldId id="701" r:id="rId4"/>
    <p:sldId id="695" r:id="rId5"/>
    <p:sldId id="696" r:id="rId6"/>
    <p:sldId id="662" r:id="rId7"/>
    <p:sldId id="722" r:id="rId8"/>
    <p:sldId id="703" r:id="rId9"/>
    <p:sldId id="705" r:id="rId10"/>
    <p:sldId id="706" r:id="rId11"/>
    <p:sldId id="707" r:id="rId12"/>
    <p:sldId id="708" r:id="rId13"/>
    <p:sldId id="709" r:id="rId14"/>
    <p:sldId id="710" r:id="rId15"/>
    <p:sldId id="711" r:id="rId16"/>
    <p:sldId id="712" r:id="rId17"/>
    <p:sldId id="713" r:id="rId18"/>
    <p:sldId id="714" r:id="rId19"/>
    <p:sldId id="715" r:id="rId20"/>
    <p:sldId id="716" r:id="rId21"/>
    <p:sldId id="717" r:id="rId22"/>
    <p:sldId id="718" r:id="rId23"/>
    <p:sldId id="719" r:id="rId24"/>
    <p:sldId id="720" r:id="rId25"/>
    <p:sldId id="721" r:id="rId26"/>
    <p:sldId id="672" r:id="rId27"/>
    <p:sldId id="673" r:id="rId28"/>
    <p:sldId id="680" r:id="rId29"/>
    <p:sldId id="678" r:id="rId30"/>
    <p:sldId id="689" r:id="rId31"/>
    <p:sldId id="682" r:id="rId32"/>
    <p:sldId id="683" r:id="rId33"/>
    <p:sldId id="685" r:id="rId34"/>
    <p:sldId id="686" r:id="rId35"/>
    <p:sldId id="687" r:id="rId3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27DD"/>
    <a:srgbClr val="4F81BD"/>
    <a:srgbClr val="E9EDF4"/>
    <a:srgbClr val="00CC00"/>
    <a:srgbClr val="541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365B0B7-4D15-414A-970B-D745491E33C6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F31F62-4BBA-464B-B77D-2EA67385E1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680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F31F62-4BBA-464B-B77D-2EA67385E1B4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799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F31F62-4BBA-464B-B77D-2EA67385E1B4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971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F31F62-4BBA-464B-B77D-2EA67385E1B4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310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F31F62-4BBA-464B-B77D-2EA67385E1B4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179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06BD454E-C87F-4627-AE11-3EE11995F60E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3CBB9-3359-4386-9E8F-12698386FB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85F0688E-9904-4C52-9143-64F948B96C21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0740A-614E-4433-A0B0-1A6E1C8734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84B5015-C5F8-4920-8632-02AB0ECB5E2C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2BD85-021C-446E-9237-E791D3253F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B5098822-9DC9-49A2-93E1-0B67397A76A9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83FB0-C18D-4CDE-A555-BC3F3147BC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A2F817FC-2B62-4086-8C73-98F30283E596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C3226-4196-468A-953F-DF151FFC72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0584ED3C-D14E-434B-8039-0E2D7C8A0B7A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7152C-DBD1-492B-9A4B-686B396C109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56EC09A-A060-46B5-B6DF-5C9B1C49E1EF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0E95A-FD84-4636-AC41-5B74A51B6F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EC523C4-997E-4C49-85EF-8174B0CE46E8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72FB6-C6D9-47AA-98AD-A448867FCE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40EAFABD-219C-46B5-BABB-26A55D596B71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70DD2-A47F-485D-9E84-4992227F5DD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0573F851-3A6D-484B-A0F1-5EE6E5153B88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A235C-4D41-4226-A188-19DABB23D4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81D1084-52E9-4284-A1F2-56001A534BAF}" type="datetimeFigureOut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994B2-99DA-4F69-B9EF-29B2879804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E8CF459D-28BF-4E85-BBE5-E53A64D0F7B3}" type="datetime1">
              <a:rPr lang="zh-CN" altLang="en-US"/>
              <a:pPr>
                <a:defRPr/>
              </a:pPr>
              <a:t>2024/3/5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317A4-E7EB-48B2-8F4A-488908F9ED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ghtlogo_01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239000" y="0"/>
            <a:ext cx="19050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646FD41-4306-42BB-A2BF-91828CE19E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ctrTitle"/>
          </p:nvPr>
        </p:nvSpPr>
        <p:spPr>
          <a:xfrm>
            <a:off x="571472" y="2143116"/>
            <a:ext cx="7929564" cy="1643062"/>
          </a:xfrm>
        </p:spPr>
        <p:txBody>
          <a:bodyPr/>
          <a:lstStyle/>
          <a:p>
            <a:r>
              <a:rPr lang="zh-CN" altLang="en-US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4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原理图的绘制</a:t>
            </a:r>
            <a:endParaRPr lang="zh-CN" altLang="en-US" sz="4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FA43F6-4605-4C0A-81B1-10FE97950FCF}" type="slidenum">
              <a:rPr lang="zh-CN" altLang="en-US"/>
              <a:pPr>
                <a:defRPr/>
              </a:pPr>
              <a:t>1</a:t>
            </a:fld>
            <a:endParaRPr lang="zh-CN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9388" y="5949950"/>
            <a:ext cx="2952750" cy="765175"/>
            <a:chOff x="0" y="3702"/>
            <a:chExt cx="2426" cy="618"/>
          </a:xfrm>
        </p:grpSpPr>
        <p:pic>
          <p:nvPicPr>
            <p:cNvPr id="17414" name="Picture 3" descr="未命名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702"/>
              <a:ext cx="748" cy="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5" name="Picture 4" descr="未命名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7" y="4020"/>
              <a:ext cx="1769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决策 1"/>
          <p:cNvSpPr/>
          <p:nvPr/>
        </p:nvSpPr>
        <p:spPr>
          <a:xfrm>
            <a:off x="1043608" y="2434528"/>
            <a:ext cx="2845167" cy="94678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原理图库</a:t>
            </a:r>
            <a:endParaRPr lang="en-US" altLang="zh-CN" b="1" dirty="0"/>
          </a:p>
          <a:p>
            <a:pPr algn="ctr"/>
            <a:r>
              <a:rPr lang="zh-CN" altLang="en-US" b="1" dirty="0"/>
              <a:t>元器件制作？</a:t>
            </a:r>
          </a:p>
        </p:txBody>
      </p:sp>
      <p:sp>
        <p:nvSpPr>
          <p:cNvPr id="3" name="矩形 2"/>
          <p:cNvSpPr/>
          <p:nvPr/>
        </p:nvSpPr>
        <p:spPr>
          <a:xfrm>
            <a:off x="1437229" y="3838688"/>
            <a:ext cx="2232000" cy="7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创建原理图库文件</a:t>
            </a:r>
            <a:endParaRPr lang="en-US" altLang="zh-CN" b="1" dirty="0"/>
          </a:p>
          <a:p>
            <a:pPr algn="ctr"/>
            <a:r>
              <a:rPr lang="zh-CN" altLang="en-US" b="1" dirty="0"/>
              <a:t>制作元器件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1793289" y="5261258"/>
            <a:ext cx="1410559" cy="57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原理图设计 </a:t>
            </a:r>
          </a:p>
        </p:txBody>
      </p:sp>
      <p:sp>
        <p:nvSpPr>
          <p:cNvPr id="5" name="流程图: 决策 4"/>
          <p:cNvSpPr/>
          <p:nvPr/>
        </p:nvSpPr>
        <p:spPr>
          <a:xfrm>
            <a:off x="5423140" y="1533878"/>
            <a:ext cx="2744861" cy="81872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PCB</a:t>
            </a:r>
            <a:r>
              <a:rPr lang="zh-CN" altLang="en-US" b="1" dirty="0"/>
              <a:t>元器件封装制作？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5679949" y="2713970"/>
            <a:ext cx="2231245" cy="7471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创建封装库文件</a:t>
            </a:r>
            <a:endParaRPr lang="en-US" altLang="zh-CN" b="1" dirty="0"/>
          </a:p>
          <a:p>
            <a:pPr algn="ctr"/>
            <a:r>
              <a:rPr lang="zh-CN" altLang="en-US" b="1" dirty="0"/>
              <a:t>制作元器件封装</a:t>
            </a:r>
          </a:p>
        </p:txBody>
      </p:sp>
      <p:sp>
        <p:nvSpPr>
          <p:cNvPr id="7" name="矩形 6"/>
          <p:cNvSpPr/>
          <p:nvPr/>
        </p:nvSpPr>
        <p:spPr>
          <a:xfrm>
            <a:off x="5902239" y="3998003"/>
            <a:ext cx="1786667" cy="57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PCB</a:t>
            </a:r>
            <a:r>
              <a:rPr lang="zh-CN" altLang="en-US" b="1" dirty="0"/>
              <a:t>版图设计</a:t>
            </a:r>
            <a:endParaRPr lang="en-US" altLang="zh-CN" b="1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2504602" y="1822169"/>
            <a:ext cx="0" cy="61235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504602" y="3402897"/>
            <a:ext cx="0" cy="44479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2504602" y="4574649"/>
            <a:ext cx="0" cy="69018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807454" y="3461140"/>
            <a:ext cx="2" cy="53686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6807455" y="2352600"/>
            <a:ext cx="0" cy="3613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2504602" y="5834942"/>
            <a:ext cx="0" cy="432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504602" y="6266942"/>
            <a:ext cx="220453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4700997" y="1033748"/>
            <a:ext cx="0" cy="523912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4709140" y="1030298"/>
            <a:ext cx="2109824" cy="34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807455" y="1030298"/>
            <a:ext cx="0" cy="4925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2" idx="3"/>
          </p:cNvCxnSpPr>
          <p:nvPr/>
        </p:nvCxnSpPr>
        <p:spPr>
          <a:xfrm>
            <a:off x="3888775" y="2907923"/>
            <a:ext cx="25154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147991" y="2895992"/>
            <a:ext cx="1" cy="201181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2527072" y="4903246"/>
            <a:ext cx="16209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925307" y="2281215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Y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140631" y="1578991"/>
            <a:ext cx="32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66739" y="3440627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Y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36365" y="2571889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8145166" y="1943239"/>
            <a:ext cx="3656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8510807" y="1927711"/>
            <a:ext cx="0" cy="18018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6795571" y="3722460"/>
            <a:ext cx="1715237" cy="71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811967" y="2307462"/>
            <a:ext cx="3632932" cy="3785834"/>
          </a:xfrm>
          <a:prstGeom prst="rect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046010" y="1196752"/>
            <a:ext cx="3973715" cy="3722988"/>
          </a:xfrm>
          <a:prstGeom prst="rect">
            <a:avLst/>
          </a:prstGeom>
          <a:noFill/>
          <a:ln w="5715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34"/>
          <p:cNvSpPr txBox="1"/>
          <p:nvPr/>
        </p:nvSpPr>
        <p:spPr>
          <a:xfrm>
            <a:off x="811968" y="3065375"/>
            <a:ext cx="461665" cy="16730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电路原理图设计</a:t>
            </a:r>
          </a:p>
        </p:txBody>
      </p:sp>
      <p:sp>
        <p:nvSpPr>
          <p:cNvPr id="31" name="TextBox 36"/>
          <p:cNvSpPr txBox="1"/>
          <p:nvPr/>
        </p:nvSpPr>
        <p:spPr>
          <a:xfrm>
            <a:off x="8510807" y="1880945"/>
            <a:ext cx="461665" cy="11071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PCB</a:t>
            </a:r>
            <a:r>
              <a:rPr lang="zh-CN" altLang="en-US" b="1" dirty="0">
                <a:solidFill>
                  <a:schemeClr val="tx2"/>
                </a:solidFill>
              </a:rPr>
              <a:t>设计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1477701" y="1216645"/>
            <a:ext cx="1976979" cy="6123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建立项目*</a:t>
            </a:r>
            <a:r>
              <a:rPr lang="en-US" altLang="zh-CN" dirty="0"/>
              <a:t>.</a:t>
            </a:r>
            <a:r>
              <a:rPr lang="en-US" altLang="zh-CN" dirty="0" err="1"/>
              <a:t>PrjPcb</a:t>
            </a:r>
            <a:endParaRPr lang="en-US" altLang="zh-CN" dirty="0"/>
          </a:p>
        </p:txBody>
      </p:sp>
      <p:sp>
        <p:nvSpPr>
          <p:cNvPr id="33" name="圆角矩形 32"/>
          <p:cNvSpPr/>
          <p:nvPr/>
        </p:nvSpPr>
        <p:spPr>
          <a:xfrm>
            <a:off x="6147499" y="5265477"/>
            <a:ext cx="1296144" cy="58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保存项目</a:t>
            </a: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6807455" y="4555510"/>
            <a:ext cx="0" cy="68633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4" grpId="1" animBg="1"/>
      <p:bldP spid="5" grpId="0" animBg="1"/>
      <p:bldP spid="6" grpId="0" animBg="1"/>
      <p:bldP spid="7" grpId="0" animBg="1"/>
      <p:bldP spid="21" grpId="0"/>
      <p:bldP spid="22" grpId="0"/>
      <p:bldP spid="23" grpId="0"/>
      <p:bldP spid="24" grpId="0"/>
      <p:bldP spid="28" grpId="0" animBg="1"/>
      <p:bldP spid="29" grpId="0" animBg="1"/>
      <p:bldP spid="30" grpId="0"/>
      <p:bldP spid="31" grpId="0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  </a:t>
            </a:r>
            <a:r>
              <a:rPr lang="zh-CN" altLang="en-US" b="1" dirty="0">
                <a:solidFill>
                  <a:srgbClr val="FF0000"/>
                </a:solidFill>
              </a:rPr>
              <a:t>原理图的概念及组成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417638"/>
            <a:ext cx="8856984" cy="4675658"/>
          </a:xfrm>
        </p:spPr>
        <p:txBody>
          <a:bodyPr/>
          <a:lstStyle/>
          <a:p>
            <a:pPr marL="0" indent="0">
              <a:lnSpc>
                <a:spcPts val="5600"/>
              </a:lnSpc>
              <a:buNone/>
            </a:pPr>
            <a:r>
              <a:rPr lang="en-US" altLang="zh-CN" sz="2100" b="1" dirty="0">
                <a:latin typeface="+mn-ea"/>
              </a:rPr>
              <a:t>• </a:t>
            </a:r>
            <a:r>
              <a:rPr lang="zh-CN" altLang="en-US" sz="2100" b="1" dirty="0">
                <a:latin typeface="+mn-ea"/>
              </a:rPr>
              <a:t>原理图是指电路中各个元器件电气连接关系的图样，它不涉及元器件的具体大小和形状，而只是关心元器件的类型和相互之间的</a:t>
            </a:r>
            <a:r>
              <a:rPr lang="zh-CN" altLang="en-US" sz="2100" b="1" dirty="0">
                <a:solidFill>
                  <a:srgbClr val="FF0000"/>
                </a:solidFill>
                <a:latin typeface="+mn-ea"/>
              </a:rPr>
              <a:t>连接关系</a:t>
            </a:r>
            <a:r>
              <a:rPr lang="zh-CN" altLang="en-US" sz="2100" b="1" dirty="0">
                <a:latin typeface="+mn-ea"/>
              </a:rPr>
              <a:t>。</a:t>
            </a:r>
            <a:endParaRPr lang="en-US" altLang="zh-CN" sz="2100" b="1" dirty="0">
              <a:latin typeface="+mn-ea"/>
            </a:endParaRPr>
          </a:p>
          <a:p>
            <a:pPr marL="0" indent="0">
              <a:lnSpc>
                <a:spcPts val="5600"/>
              </a:lnSpc>
              <a:buNone/>
            </a:pPr>
            <a:r>
              <a:rPr lang="en-US" altLang="zh-CN" sz="2100" b="1" dirty="0">
                <a:latin typeface="+mn-ea"/>
              </a:rPr>
              <a:t>• </a:t>
            </a:r>
            <a:r>
              <a:rPr lang="zh-CN" altLang="en-US" sz="2100" b="1" dirty="0">
                <a:latin typeface="+mn-ea"/>
              </a:rPr>
              <a:t>电气连接是指将电子元件、电器设备或其他导线连接起来的方式，以实现信号传输、控制等功能，确保整个电路系统的正常运行</a:t>
            </a:r>
            <a:r>
              <a:rPr lang="zh-CN" altLang="en-US" sz="2100" b="1" i="0" dirty="0">
                <a:solidFill>
                  <a:srgbClr val="333333"/>
                </a:solidFill>
                <a:effectLst/>
                <a:latin typeface="+mn-ea"/>
              </a:rPr>
              <a:t>。</a:t>
            </a:r>
            <a:endParaRPr lang="zh-CN" altLang="en-US" sz="2100" b="1" dirty="0">
              <a:latin typeface="+mn-ea"/>
            </a:endParaRPr>
          </a:p>
          <a:p>
            <a:pPr marL="0" indent="0">
              <a:lnSpc>
                <a:spcPts val="5600"/>
              </a:lnSpc>
              <a:buNone/>
            </a:pPr>
            <a:r>
              <a:rPr lang="en-US" altLang="zh-CN" sz="2100" b="1" dirty="0">
                <a:latin typeface="+mn-ea"/>
              </a:rPr>
              <a:t>• </a:t>
            </a:r>
            <a:r>
              <a:rPr lang="zh-CN" altLang="en-US" sz="2100" b="1" dirty="0">
                <a:latin typeface="+mn-ea"/>
              </a:rPr>
              <a:t>原理图输入就是在原理图编辑器中将设计完成的电路图绘制出来，后续通过元器件封装和创建网络表，为</a:t>
            </a:r>
            <a:r>
              <a:rPr lang="en-US" altLang="zh-CN" sz="2100" b="1" dirty="0">
                <a:latin typeface="+mn-ea"/>
              </a:rPr>
              <a:t>PCB</a:t>
            </a:r>
            <a:r>
              <a:rPr lang="zh-CN" altLang="en-US" sz="2100" b="1" dirty="0">
                <a:latin typeface="+mn-ea"/>
              </a:rPr>
              <a:t>设计奠定基础。</a:t>
            </a:r>
          </a:p>
        </p:txBody>
      </p:sp>
    </p:spTree>
    <p:extLst>
      <p:ext uri="{BB962C8B-B14F-4D97-AF65-F5344CB8AC3E}">
        <p14:creationId xmlns:p14="http://schemas.microsoft.com/office/powerpoint/2010/main" val="345879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88" y="4664925"/>
            <a:ext cx="8306124" cy="181548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原理图是指电路中各个元器件电气连接关系的图样，它不涉及元器件的具体大小和形状，而只是关心元器件的</a:t>
            </a:r>
            <a:r>
              <a:rPr lang="zh-CN" altLang="en-US" sz="2400" b="1" dirty="0">
                <a:solidFill>
                  <a:srgbClr val="FF0000"/>
                </a:solidFill>
              </a:rPr>
              <a:t>类型</a:t>
            </a:r>
            <a:r>
              <a:rPr lang="zh-CN" altLang="en-US" sz="2400" b="1" dirty="0"/>
              <a:t>和相互之间的</a:t>
            </a:r>
            <a:r>
              <a:rPr lang="zh-CN" altLang="en-US" sz="2400" b="1" dirty="0">
                <a:solidFill>
                  <a:srgbClr val="FF0000"/>
                </a:solidFill>
              </a:rPr>
              <a:t>连接关系</a:t>
            </a:r>
            <a:r>
              <a:rPr lang="zh-CN" altLang="en-US" sz="2400" b="1" dirty="0"/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47664" y="3953582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电路实物图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12511" y="3951128"/>
            <a:ext cx="1747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电路原理图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052" y="1095932"/>
            <a:ext cx="4071844" cy="2747699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6295920" y="2384312"/>
            <a:ext cx="72008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42510" y="2339622"/>
            <a:ext cx="25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31513" y="2031773"/>
            <a:ext cx="25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0011" y="2668567"/>
            <a:ext cx="279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03" y="1398295"/>
            <a:ext cx="3552734" cy="2305609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1763688" y="2339622"/>
            <a:ext cx="864096" cy="5853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051720" y="2339621"/>
            <a:ext cx="216024" cy="201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椭圆 24"/>
          <p:cNvSpPr/>
          <p:nvPr/>
        </p:nvSpPr>
        <p:spPr>
          <a:xfrm>
            <a:off x="1789693" y="2450262"/>
            <a:ext cx="216024" cy="201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051720" y="2704447"/>
            <a:ext cx="216024" cy="201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313747" y="2541294"/>
            <a:ext cx="314037" cy="1631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50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10" grpId="0"/>
      <p:bldP spid="13" grpId="0" animBg="1"/>
      <p:bldP spid="15" grpId="0"/>
      <p:bldP spid="16" grpId="0"/>
      <p:bldP spid="17" grpId="0"/>
      <p:bldP spid="23" grpId="0" animBg="1"/>
      <p:bldP spid="23" grpId="1" animBg="1"/>
      <p:bldP spid="24" grpId="0" animBg="1"/>
      <p:bldP spid="25" grpId="0" animBg="1"/>
      <p:bldP spid="26" grpId="0" animBg="1"/>
      <p:bldP spid="4" grpId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65" y="619312"/>
            <a:ext cx="8216623" cy="5544616"/>
          </a:xfrm>
          <a:prstGeom prst="rect">
            <a:avLst/>
          </a:prstGeom>
        </p:spPr>
      </p:pic>
      <p:sp>
        <p:nvSpPr>
          <p:cNvPr id="84" name="椭圆 83"/>
          <p:cNvSpPr/>
          <p:nvPr/>
        </p:nvSpPr>
        <p:spPr>
          <a:xfrm>
            <a:off x="4589921" y="3094112"/>
            <a:ext cx="850760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4556160" y="4370162"/>
            <a:ext cx="882016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4574081" y="1390518"/>
            <a:ext cx="864095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3069355" y="4293096"/>
            <a:ext cx="864095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2994616" y="1501525"/>
            <a:ext cx="864095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椭圆 88"/>
          <p:cNvSpPr/>
          <p:nvPr/>
        </p:nvSpPr>
        <p:spPr>
          <a:xfrm>
            <a:off x="6809552" y="4065624"/>
            <a:ext cx="864095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椭圆 89"/>
          <p:cNvSpPr/>
          <p:nvPr/>
        </p:nvSpPr>
        <p:spPr>
          <a:xfrm>
            <a:off x="2154346" y="3082680"/>
            <a:ext cx="864095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6193074" y="2125992"/>
            <a:ext cx="864095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圆角矩形标注 91"/>
          <p:cNvSpPr/>
          <p:nvPr/>
        </p:nvSpPr>
        <p:spPr>
          <a:xfrm>
            <a:off x="5921588" y="1369299"/>
            <a:ext cx="1656185" cy="391606"/>
          </a:xfrm>
          <a:prstGeom prst="wedgeRoundRectCallout">
            <a:avLst>
              <a:gd name="adj1" fmla="val -99832"/>
              <a:gd name="adj2" fmla="val 4668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原理图元件</a:t>
            </a:r>
          </a:p>
        </p:txBody>
      </p:sp>
      <p:sp>
        <p:nvSpPr>
          <p:cNvPr id="93" name="椭圆 92"/>
          <p:cNvSpPr/>
          <p:nvPr/>
        </p:nvSpPr>
        <p:spPr>
          <a:xfrm>
            <a:off x="4499991" y="236460"/>
            <a:ext cx="864095" cy="100811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4499990" y="5470600"/>
            <a:ext cx="864095" cy="100811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圆角矩形标注 94"/>
          <p:cNvSpPr/>
          <p:nvPr/>
        </p:nvSpPr>
        <p:spPr>
          <a:xfrm>
            <a:off x="5566407" y="70393"/>
            <a:ext cx="1152128" cy="367664"/>
          </a:xfrm>
          <a:prstGeom prst="wedgeRoundRectCallout">
            <a:avLst>
              <a:gd name="adj1" fmla="val -81999"/>
              <a:gd name="adj2" fmla="val 1767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电源</a:t>
            </a:r>
          </a:p>
        </p:txBody>
      </p:sp>
      <p:sp>
        <p:nvSpPr>
          <p:cNvPr id="96" name="圆角矩形标注 95"/>
          <p:cNvSpPr/>
          <p:nvPr/>
        </p:nvSpPr>
        <p:spPr>
          <a:xfrm>
            <a:off x="5728701" y="6294880"/>
            <a:ext cx="1152128" cy="367664"/>
          </a:xfrm>
          <a:prstGeom prst="wedgeRoundRectCallout">
            <a:avLst>
              <a:gd name="adj1" fmla="val -97872"/>
              <a:gd name="adj2" fmla="val -918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地</a:t>
            </a:r>
          </a:p>
        </p:txBody>
      </p:sp>
      <p:sp>
        <p:nvSpPr>
          <p:cNvPr id="97" name="椭圆 96"/>
          <p:cNvSpPr/>
          <p:nvPr/>
        </p:nvSpPr>
        <p:spPr>
          <a:xfrm>
            <a:off x="7732561" y="2234940"/>
            <a:ext cx="1173835" cy="760216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/>
          <p:cNvSpPr/>
          <p:nvPr/>
        </p:nvSpPr>
        <p:spPr>
          <a:xfrm>
            <a:off x="514750" y="3229632"/>
            <a:ext cx="1173835" cy="760216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" name="圆角矩形标注 98"/>
          <p:cNvSpPr/>
          <p:nvPr/>
        </p:nvSpPr>
        <p:spPr>
          <a:xfrm>
            <a:off x="7761089" y="1403863"/>
            <a:ext cx="1303935" cy="367664"/>
          </a:xfrm>
          <a:prstGeom prst="wedgeRoundRectCallout">
            <a:avLst>
              <a:gd name="adj1" fmla="val 2359"/>
              <a:gd name="adj2" fmla="val 2364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输出端口</a:t>
            </a:r>
          </a:p>
        </p:txBody>
      </p:sp>
      <p:sp>
        <p:nvSpPr>
          <p:cNvPr id="100" name="圆角矩形标注 99"/>
          <p:cNvSpPr/>
          <p:nvPr/>
        </p:nvSpPr>
        <p:spPr>
          <a:xfrm>
            <a:off x="8114820" y="3135515"/>
            <a:ext cx="849668" cy="367664"/>
          </a:xfrm>
          <a:prstGeom prst="wedgeRoundRectCallout">
            <a:avLst>
              <a:gd name="adj1" fmla="val -159014"/>
              <a:gd name="adj2" fmla="val 1071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连线</a:t>
            </a:r>
          </a:p>
        </p:txBody>
      </p:sp>
      <p:sp>
        <p:nvSpPr>
          <p:cNvPr id="101" name="椭圆 100"/>
          <p:cNvSpPr/>
          <p:nvPr/>
        </p:nvSpPr>
        <p:spPr>
          <a:xfrm>
            <a:off x="4693693" y="2424280"/>
            <a:ext cx="532158" cy="4018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圆角矩形标注 101"/>
          <p:cNvSpPr/>
          <p:nvPr/>
        </p:nvSpPr>
        <p:spPr>
          <a:xfrm>
            <a:off x="3273061" y="931112"/>
            <a:ext cx="1030029" cy="367664"/>
          </a:xfrm>
          <a:prstGeom prst="wedgeRoundRectCallout">
            <a:avLst>
              <a:gd name="adj1" fmla="val 104699"/>
              <a:gd name="adj2" fmla="val 4130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节点</a:t>
            </a:r>
          </a:p>
        </p:txBody>
      </p:sp>
      <p:sp>
        <p:nvSpPr>
          <p:cNvPr id="103" name="椭圆 102"/>
          <p:cNvSpPr/>
          <p:nvPr/>
        </p:nvSpPr>
        <p:spPr>
          <a:xfrm>
            <a:off x="5612433" y="4194636"/>
            <a:ext cx="864095" cy="1008112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圆角矩形标注 104"/>
          <p:cNvSpPr/>
          <p:nvPr/>
        </p:nvSpPr>
        <p:spPr>
          <a:xfrm>
            <a:off x="95897" y="2587509"/>
            <a:ext cx="1303935" cy="367664"/>
          </a:xfrm>
          <a:prstGeom prst="wedgeRoundRectCallout">
            <a:avLst>
              <a:gd name="adj1" fmla="val 46538"/>
              <a:gd name="adj2" fmla="val 1941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输入端口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514751" y="6176393"/>
            <a:ext cx="2977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原理图的构成</a:t>
            </a:r>
          </a:p>
        </p:txBody>
      </p:sp>
      <p:sp>
        <p:nvSpPr>
          <p:cNvPr id="107" name="圆角矩形标注 106"/>
          <p:cNvSpPr/>
          <p:nvPr/>
        </p:nvSpPr>
        <p:spPr>
          <a:xfrm>
            <a:off x="647329" y="673473"/>
            <a:ext cx="1656185" cy="391606"/>
          </a:xfrm>
          <a:prstGeom prst="wedgeRoundRectCallout">
            <a:avLst>
              <a:gd name="adj1" fmla="val 109418"/>
              <a:gd name="adj2" fmla="val 2917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原理图元件</a:t>
            </a:r>
          </a:p>
        </p:txBody>
      </p:sp>
      <p:sp>
        <p:nvSpPr>
          <p:cNvPr id="108" name="圆角矩形标注 107"/>
          <p:cNvSpPr/>
          <p:nvPr/>
        </p:nvSpPr>
        <p:spPr>
          <a:xfrm>
            <a:off x="7836516" y="569394"/>
            <a:ext cx="1113068" cy="367664"/>
          </a:xfrm>
          <a:prstGeom prst="wedgeRoundRectCallout">
            <a:avLst>
              <a:gd name="adj1" fmla="val -135338"/>
              <a:gd name="adj2" fmla="val 49757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连线</a:t>
            </a:r>
          </a:p>
        </p:txBody>
      </p:sp>
      <p:sp>
        <p:nvSpPr>
          <p:cNvPr id="109" name="圆角矩形标注 108"/>
          <p:cNvSpPr/>
          <p:nvPr/>
        </p:nvSpPr>
        <p:spPr>
          <a:xfrm>
            <a:off x="1390372" y="5234709"/>
            <a:ext cx="1030029" cy="367664"/>
          </a:xfrm>
          <a:prstGeom prst="wedgeRoundRectCallout">
            <a:avLst>
              <a:gd name="adj1" fmla="val 137545"/>
              <a:gd name="adj2" fmla="val -4475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节点</a:t>
            </a:r>
          </a:p>
        </p:txBody>
      </p:sp>
      <p:sp>
        <p:nvSpPr>
          <p:cNvPr id="110" name="圆角矩形标注 109"/>
          <p:cNvSpPr/>
          <p:nvPr/>
        </p:nvSpPr>
        <p:spPr>
          <a:xfrm>
            <a:off x="7862628" y="4202016"/>
            <a:ext cx="1152128" cy="367664"/>
          </a:xfrm>
          <a:prstGeom prst="wedgeRoundRectCallout">
            <a:avLst>
              <a:gd name="adj1" fmla="val -8982"/>
              <a:gd name="adj2" fmla="val -4300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端口</a:t>
            </a:r>
          </a:p>
        </p:txBody>
      </p:sp>
      <p:sp>
        <p:nvSpPr>
          <p:cNvPr id="111" name="圆角矩形标注 110"/>
          <p:cNvSpPr/>
          <p:nvPr/>
        </p:nvSpPr>
        <p:spPr>
          <a:xfrm>
            <a:off x="3160106" y="91043"/>
            <a:ext cx="1152128" cy="367664"/>
          </a:xfrm>
          <a:prstGeom prst="wedgeRoundRectCallout">
            <a:avLst>
              <a:gd name="adj1" fmla="val 87051"/>
              <a:gd name="adj2" fmla="val 1817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电源</a:t>
            </a:r>
          </a:p>
        </p:txBody>
      </p:sp>
    </p:spTree>
    <p:extLst>
      <p:ext uri="{BB962C8B-B14F-4D97-AF65-F5344CB8AC3E}">
        <p14:creationId xmlns:p14="http://schemas.microsoft.com/office/powerpoint/2010/main" val="265340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5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5" grpId="0" animBg="1"/>
      <p:bldP spid="105" grpId="1" animBg="1"/>
      <p:bldP spid="106" grpId="0"/>
      <p:bldP spid="107" grpId="0" animBg="1"/>
      <p:bldP spid="108" grpId="0" animBg="1"/>
      <p:bldP spid="109" grpId="0" animBg="1"/>
      <p:bldP spid="110" grpId="0" animBg="1"/>
      <p:bldP spid="1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</a:t>
            </a:r>
            <a:r>
              <a:rPr lang="en-US" altLang="zh-CN" b="1" dirty="0">
                <a:solidFill>
                  <a:srgbClr val="FF0000"/>
                </a:solidFill>
              </a:rPr>
              <a:t>  </a:t>
            </a:r>
            <a:r>
              <a:rPr lang="zh-CN" altLang="en-US" b="1" dirty="0">
                <a:solidFill>
                  <a:srgbClr val="FF0000"/>
                </a:solidFill>
              </a:rPr>
              <a:t>原理图的设计流程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" y="2564904"/>
            <a:ext cx="8767763" cy="167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8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2.2.1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创建原理图文件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96752"/>
            <a:ext cx="8651304" cy="460851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打开创建的项目文件</a:t>
            </a:r>
            <a:r>
              <a:rPr lang="en-US" altLang="zh-CN" sz="2400" b="1" dirty="0" err="1"/>
              <a:t>xxx.PrjPCB</a:t>
            </a:r>
            <a:r>
              <a:rPr lang="zh-CN" altLang="en-US" sz="2400" b="1" dirty="0"/>
              <a:t>； 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Schematic</a:t>
            </a:r>
            <a:r>
              <a:rPr lang="zh-CN" altLang="en-US" sz="2400" b="1" dirty="0"/>
              <a:t>文件的创建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右键单击项目文件，选择</a:t>
            </a:r>
            <a:r>
              <a:rPr lang="zh-CN" altLang="en-US" sz="2400" b="1" dirty="0">
                <a:solidFill>
                  <a:schemeClr val="tx2"/>
                </a:solidFill>
              </a:rPr>
              <a:t>添加新的</a:t>
            </a:r>
            <a:r>
              <a:rPr lang="en-US" altLang="zh-CN" sz="2400" b="1" dirty="0">
                <a:solidFill>
                  <a:schemeClr val="tx2"/>
                </a:solidFill>
              </a:rPr>
              <a:t>…</a:t>
            </a:r>
            <a:r>
              <a:rPr lang="zh-CN" altLang="en-US" sz="2400" b="1" dirty="0">
                <a:solidFill>
                  <a:schemeClr val="tx2"/>
                </a:solidFill>
              </a:rPr>
              <a:t>到工程</a:t>
            </a:r>
            <a:r>
              <a:rPr lang="en-US" altLang="zh-CN" sz="2400" b="1" dirty="0"/>
              <a:t>→ </a:t>
            </a:r>
            <a:r>
              <a:rPr lang="en-US" altLang="zh-CN" sz="2400" b="1" dirty="0">
                <a:solidFill>
                  <a:schemeClr val="tx2"/>
                </a:solidFill>
              </a:rPr>
              <a:t>Schematic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  </a:t>
            </a:r>
            <a:r>
              <a:rPr lang="zh-CN" altLang="en-US" sz="2400" b="1" dirty="0"/>
              <a:t>软件在当前项目文件夹下建立了原理图文件</a:t>
            </a:r>
            <a:r>
              <a:rPr lang="en-US" altLang="zh-CN" sz="2400" b="1" dirty="0"/>
              <a:t>Sheet1.</a:t>
            </a:r>
            <a:r>
              <a:rPr lang="en-US" altLang="zh-CN" sz="2400" b="1" dirty="0">
                <a:solidFill>
                  <a:srgbClr val="FF0000"/>
                </a:solidFill>
              </a:rPr>
              <a:t>SchDoc</a:t>
            </a:r>
            <a:r>
              <a:rPr lang="zh-CN" altLang="en-US" sz="2400" b="1" dirty="0"/>
              <a:t>； 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右键单击原理图文件，选择</a:t>
            </a:r>
            <a:r>
              <a:rPr lang="zh-CN" altLang="en-US" sz="2400" b="1" dirty="0">
                <a:solidFill>
                  <a:schemeClr val="tx2"/>
                </a:solidFill>
              </a:rPr>
              <a:t>另存为</a:t>
            </a:r>
            <a:r>
              <a:rPr lang="zh-CN" altLang="en-US" sz="2400" b="1" dirty="0"/>
              <a:t>，检查路径，修改文件名为 “三极管放大电路”，保存文件；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保存项目文件。</a:t>
            </a:r>
          </a:p>
        </p:txBody>
      </p:sp>
    </p:spTree>
    <p:extLst>
      <p:ext uri="{BB962C8B-B14F-4D97-AF65-F5344CB8AC3E}">
        <p14:creationId xmlns:p14="http://schemas.microsoft.com/office/powerpoint/2010/main" val="235531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6" y="970653"/>
            <a:ext cx="9125263" cy="4906620"/>
          </a:xfrm>
          <a:prstGeom prst="rect">
            <a:avLst/>
          </a:prstGeom>
        </p:spPr>
      </p:pic>
      <p:sp>
        <p:nvSpPr>
          <p:cNvPr id="3" name="标题 1"/>
          <p:cNvSpPr txBox="1">
            <a:spLocks/>
          </p:cNvSpPr>
          <p:nvPr/>
        </p:nvSpPr>
        <p:spPr bwMode="auto">
          <a:xfrm>
            <a:off x="1115616" y="5908097"/>
            <a:ext cx="6696744" cy="511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原理图编辑环境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2555776" y="1412776"/>
            <a:ext cx="1008112" cy="432048"/>
          </a:xfrm>
          <a:prstGeom prst="wedgeRoundRectCallout">
            <a:avLst>
              <a:gd name="adj1" fmla="val -59652"/>
              <a:gd name="adj2" fmla="val -957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菜单栏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5632402" y="1772816"/>
            <a:ext cx="1008000" cy="432048"/>
          </a:xfrm>
          <a:prstGeom prst="wedgeRoundRectCallout">
            <a:avLst>
              <a:gd name="adj1" fmla="val -53078"/>
              <a:gd name="adj2" fmla="val -1247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+mn-ea"/>
              </a:rPr>
              <a:t>工具栏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4120402" y="3501008"/>
            <a:ext cx="1512000" cy="432451"/>
          </a:xfrm>
          <a:prstGeom prst="wedgeRoundRectCallout">
            <a:avLst>
              <a:gd name="adj1" fmla="val -23377"/>
              <a:gd name="adj2" fmla="val 579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绘制工作区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18736" y="2983272"/>
            <a:ext cx="1512000" cy="432451"/>
          </a:xfrm>
          <a:prstGeom prst="wedgeRoundRectCallout">
            <a:avLst>
              <a:gd name="adj1" fmla="val 29261"/>
              <a:gd name="adj2" fmla="val -1801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工作面板区</a:t>
            </a:r>
          </a:p>
        </p:txBody>
      </p:sp>
      <p:sp>
        <p:nvSpPr>
          <p:cNvPr id="8" name="圆角矩形标注 7"/>
          <p:cNvSpPr/>
          <p:nvPr/>
        </p:nvSpPr>
        <p:spPr>
          <a:xfrm flipH="1">
            <a:off x="1763688" y="5013176"/>
            <a:ext cx="1008000" cy="432000"/>
          </a:xfrm>
          <a:prstGeom prst="wedgeRoundRectCallout">
            <a:avLst>
              <a:gd name="adj1" fmla="val 90669"/>
              <a:gd name="adj2" fmla="val 1267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状态栏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7668344" y="2564904"/>
            <a:ext cx="1152016" cy="435934"/>
          </a:xfrm>
          <a:prstGeom prst="wedgeRoundRectCallout">
            <a:avLst>
              <a:gd name="adj1" fmla="val 59408"/>
              <a:gd name="adj2" fmla="val -2093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+mn-ea"/>
              </a:rPr>
              <a:t>侧边栏</a:t>
            </a:r>
          </a:p>
        </p:txBody>
      </p:sp>
    </p:spTree>
    <p:extLst>
      <p:ext uri="{BB962C8B-B14F-4D97-AF65-F5344CB8AC3E}">
        <p14:creationId xmlns:p14="http://schemas.microsoft.com/office/powerpoint/2010/main" val="335307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2.2.2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图纸设置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94" y="1189980"/>
            <a:ext cx="5832648" cy="316835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双击图纸边框或点击侧边栏</a:t>
            </a:r>
            <a:r>
              <a:rPr lang="en-US" altLang="zh-CN" sz="2400" b="1" dirty="0"/>
              <a:t>Properties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根据原理图要求以及元器件位置精确度的需要，在</a:t>
            </a:r>
            <a:r>
              <a:rPr lang="en-US" altLang="zh-CN" sz="2400" b="1" dirty="0">
                <a:solidFill>
                  <a:schemeClr val="tx2"/>
                </a:solidFill>
              </a:rPr>
              <a:t>General </a:t>
            </a:r>
            <a:r>
              <a:rPr lang="zh-CN" altLang="en-US" sz="2400" b="1" dirty="0"/>
              <a:t>中可修改</a:t>
            </a:r>
            <a:r>
              <a:rPr lang="en-US" altLang="zh-CN" sz="2400" b="1" dirty="0"/>
              <a:t>Units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mm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mils</a:t>
            </a:r>
            <a:r>
              <a:rPr lang="zh-CN" altLang="en-US" sz="2400" b="1" dirty="0"/>
              <a:t>），</a:t>
            </a:r>
            <a:r>
              <a:rPr lang="en-US" altLang="zh-CN" sz="2400" b="1" dirty="0"/>
              <a:t>Snap Grid</a:t>
            </a:r>
            <a:r>
              <a:rPr lang="zh-CN" altLang="en-US" sz="2400" b="1" dirty="0"/>
              <a:t>等参数。</a:t>
            </a:r>
            <a:endParaRPr lang="en-US" altLang="zh-CN" sz="2400" b="1" dirty="0"/>
          </a:p>
        </p:txBody>
      </p:sp>
      <p:sp>
        <p:nvSpPr>
          <p:cNvPr id="5" name="矩形 4"/>
          <p:cNvSpPr/>
          <p:nvPr/>
        </p:nvSpPr>
        <p:spPr>
          <a:xfrm>
            <a:off x="72726" y="3483002"/>
            <a:ext cx="557939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可根据电路图的规模和复杂程度在</a:t>
            </a:r>
            <a:r>
              <a:rPr lang="en-US" altLang="zh-CN" sz="2400" b="1" dirty="0">
                <a:solidFill>
                  <a:schemeClr val="tx2"/>
                </a:solidFill>
              </a:rPr>
              <a:t>Page Options </a:t>
            </a:r>
            <a:r>
              <a:rPr lang="en-US" altLang="zh-CN" sz="2400" b="1" dirty="0">
                <a:latin typeface="+mj-lt"/>
              </a:rPr>
              <a:t>→</a:t>
            </a:r>
            <a:r>
              <a:rPr lang="en-US" altLang="zh-CN" sz="2400" b="1" dirty="0"/>
              <a:t>Standard</a:t>
            </a:r>
            <a:r>
              <a:rPr lang="zh-CN" altLang="en-US" sz="2400" b="1" dirty="0"/>
              <a:t>中点击</a:t>
            </a:r>
            <a:r>
              <a:rPr lang="en-US" altLang="zh-CN" sz="2400" b="1" dirty="0"/>
              <a:t>Sheet Size</a:t>
            </a:r>
            <a:r>
              <a:rPr lang="zh-CN" altLang="en-US" sz="2400" b="1" dirty="0"/>
              <a:t>下拉列表选择图纸尺寸，如</a:t>
            </a:r>
            <a:r>
              <a:rPr lang="en-US" altLang="zh-CN" sz="2400" b="1" dirty="0"/>
              <a:t>A4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A3</a:t>
            </a:r>
            <a:r>
              <a:rPr lang="zh-CN" altLang="en-US" sz="2400" b="1" dirty="0"/>
              <a:t>等。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可使用默认值。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1189980"/>
            <a:ext cx="3079746" cy="55919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084168" y="2204864"/>
            <a:ext cx="2880320" cy="93610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516216" y="6165304"/>
            <a:ext cx="1008112" cy="36004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72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5" grpId="0" animBg="1"/>
      <p:bldP spid="15" grpId="1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2.2.3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加载元器件库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5"/>
            <a:ext cx="8784976" cy="151216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•</a:t>
            </a:r>
            <a:r>
              <a:rPr lang="zh-CN" altLang="en-US" sz="2000" b="1" dirty="0"/>
              <a:t>点击侧边栏</a:t>
            </a:r>
            <a:r>
              <a:rPr lang="en-US" altLang="zh-CN" sz="2000" b="1" dirty="0"/>
              <a:t>Components</a:t>
            </a:r>
            <a:r>
              <a:rPr lang="zh-CN" altLang="en-US" sz="2000" b="1" dirty="0"/>
              <a:t>标签，点击       按钮，选择</a:t>
            </a:r>
            <a:r>
              <a:rPr lang="en-US" altLang="zh-CN" sz="2000" b="1" dirty="0">
                <a:solidFill>
                  <a:schemeClr val="tx2"/>
                </a:solidFill>
              </a:rPr>
              <a:t>File-based Libraries </a:t>
            </a:r>
            <a:r>
              <a:rPr lang="en-US" altLang="zh-CN" sz="2000" b="1" dirty="0" err="1">
                <a:solidFill>
                  <a:schemeClr val="tx2"/>
                </a:solidFill>
              </a:rPr>
              <a:t>Perferences</a:t>
            </a:r>
            <a:r>
              <a:rPr lang="zh-CN" altLang="en-US" sz="2000" b="1" dirty="0"/>
              <a:t>，在弹出的对话框中点击</a:t>
            </a:r>
            <a:r>
              <a:rPr lang="zh-CN" altLang="en-US" sz="2000" b="1" dirty="0">
                <a:solidFill>
                  <a:schemeClr val="tx2"/>
                </a:solidFill>
              </a:rPr>
              <a:t>已安装</a:t>
            </a:r>
            <a:r>
              <a:rPr lang="zh-CN" altLang="en-US" sz="2000" b="1" dirty="0"/>
              <a:t>标签，再点击</a:t>
            </a:r>
            <a:r>
              <a:rPr lang="zh-CN" altLang="en-US" sz="2000" b="1" dirty="0">
                <a:solidFill>
                  <a:schemeClr val="tx2"/>
                </a:solidFill>
              </a:rPr>
              <a:t>安装</a:t>
            </a:r>
            <a:r>
              <a:rPr lang="zh-CN" altLang="en-US" sz="2000" b="1" dirty="0"/>
              <a:t>添加需要的库文件； </a:t>
            </a:r>
            <a:endParaRPr lang="en-US" altLang="zh-CN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270447"/>
            <a:ext cx="376808" cy="29438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79512" y="5934670"/>
            <a:ext cx="72866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b="1" dirty="0"/>
              <a:t>• Miscellaneous </a:t>
            </a:r>
            <a:r>
              <a:rPr lang="en-US" altLang="zh-CN" b="1" dirty="0" err="1"/>
              <a:t>Connectors.IntLib</a:t>
            </a:r>
            <a:r>
              <a:rPr lang="zh-CN" altLang="en-US" b="1" dirty="0"/>
              <a:t>中为常用接口（接插件）库。 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b="1" dirty="0"/>
              <a:t>• Miscellaneous </a:t>
            </a:r>
            <a:r>
              <a:rPr lang="en-US" altLang="zh-CN" b="1" dirty="0" err="1"/>
              <a:t>Devices.IntLib</a:t>
            </a:r>
            <a:r>
              <a:rPr lang="zh-CN" altLang="en-US" b="1" dirty="0"/>
              <a:t>为电阻、电容等常用元器件库。</a:t>
            </a:r>
            <a:endParaRPr lang="en-US" altLang="zh-CN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049975"/>
            <a:ext cx="5105625" cy="389692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483768" y="2267745"/>
            <a:ext cx="432048" cy="36916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88024" y="5157192"/>
            <a:ext cx="792088" cy="36004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76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179512" y="692697"/>
            <a:ext cx="8712968" cy="10801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注意：</a:t>
            </a:r>
            <a:r>
              <a:rPr lang="zh-CN" altLang="en-US" sz="2000" b="1" dirty="0"/>
              <a:t>如果软件界面显示异常，可以点击         图标，在打开的对话框中的</a:t>
            </a:r>
            <a:r>
              <a:rPr lang="en-US" altLang="zh-CN" sz="2000" b="1" dirty="0"/>
              <a:t>System </a:t>
            </a:r>
            <a:r>
              <a:rPr lang="en-US" altLang="zh-CN" sz="2000" b="1" dirty="0">
                <a:latin typeface="+mj-lt"/>
              </a:rPr>
              <a:t>→</a:t>
            </a:r>
            <a:r>
              <a:rPr lang="en-US" altLang="zh-CN" sz="2000" b="1" dirty="0"/>
              <a:t> View</a:t>
            </a:r>
            <a:r>
              <a:rPr lang="zh-CN" altLang="en-US" sz="2000" b="1" dirty="0"/>
              <a:t>中找到</a:t>
            </a:r>
            <a:r>
              <a:rPr lang="zh-CN" altLang="en-US" sz="2000" b="1" dirty="0">
                <a:solidFill>
                  <a:schemeClr val="tx2"/>
                </a:solidFill>
              </a:rPr>
              <a:t>桌面 </a:t>
            </a:r>
            <a:r>
              <a:rPr lang="zh-CN" altLang="en-US" sz="2000" b="1" dirty="0"/>
              <a:t>，点击</a:t>
            </a:r>
            <a:r>
              <a:rPr lang="en-US" altLang="zh-CN" sz="2000" b="1" dirty="0"/>
              <a:t>Reset</a:t>
            </a:r>
            <a:r>
              <a:rPr lang="zh-CN" altLang="en-US" sz="2000" b="1" dirty="0"/>
              <a:t>恢复默认布局。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207" y="1841112"/>
            <a:ext cx="6650153" cy="50203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836712"/>
            <a:ext cx="480054" cy="3600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59632" y="2290593"/>
            <a:ext cx="1152128" cy="4320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67944" y="3212976"/>
            <a:ext cx="576064" cy="28803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71800" y="2564904"/>
            <a:ext cx="2088232" cy="100811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50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2.2.4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放置元器件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 flipH="1">
            <a:off x="251518" y="1124744"/>
            <a:ext cx="5904655" cy="208823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•</a:t>
            </a:r>
            <a:r>
              <a:rPr lang="zh-CN" altLang="en-US" sz="2000" b="1" dirty="0"/>
              <a:t>点击侧边栏</a:t>
            </a:r>
            <a:r>
              <a:rPr lang="en-US" altLang="zh-CN" sz="2000" b="1" dirty="0"/>
              <a:t>Components</a:t>
            </a:r>
            <a:r>
              <a:rPr lang="zh-CN" altLang="en-US" sz="2000" b="1" dirty="0"/>
              <a:t>标签，选择需要绘制的元器件（例如三极管</a:t>
            </a:r>
            <a:r>
              <a:rPr lang="en-US" altLang="zh-CN" sz="2000" b="1" dirty="0"/>
              <a:t>2N3904</a:t>
            </a:r>
            <a:r>
              <a:rPr lang="zh-CN" altLang="en-US" sz="2000" b="1" dirty="0"/>
              <a:t>）所在的</a:t>
            </a:r>
            <a:r>
              <a:rPr lang="en-US" altLang="zh-CN" sz="2000" b="1" dirty="0"/>
              <a:t>Miscellaneous </a:t>
            </a:r>
            <a:r>
              <a:rPr lang="en-US" altLang="zh-CN" sz="2000" b="1" dirty="0" err="1"/>
              <a:t>Devices.IntLib</a:t>
            </a:r>
            <a:r>
              <a:rPr lang="zh-CN" altLang="en-US" sz="2000" b="1" dirty="0"/>
              <a:t>库，</a:t>
            </a:r>
            <a:r>
              <a:rPr lang="zh-CN" altLang="en-US" sz="2000" b="1" dirty="0">
                <a:solidFill>
                  <a:srgbClr val="FF0000"/>
                </a:solidFill>
              </a:rPr>
              <a:t>展开下方的</a:t>
            </a:r>
            <a:r>
              <a:rPr lang="en-US" altLang="zh-CN" sz="2000" b="1" dirty="0">
                <a:solidFill>
                  <a:srgbClr val="FF0000"/>
                </a:solidFill>
              </a:rPr>
              <a:t>Component Details</a:t>
            </a:r>
            <a:r>
              <a:rPr lang="zh-CN" altLang="en-US" sz="2000" b="1" dirty="0"/>
              <a:t>，找到并点击</a:t>
            </a:r>
            <a:r>
              <a:rPr lang="en-US" altLang="zh-CN" sz="2000" b="1" dirty="0"/>
              <a:t>Models</a:t>
            </a:r>
            <a:r>
              <a:rPr lang="zh-CN" altLang="en-US" sz="2000" b="1" dirty="0"/>
              <a:t>，可看到元器件的原理图符号。</a:t>
            </a:r>
            <a:endParaRPr lang="en-US" altLang="zh-CN" sz="2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856" y="836712"/>
            <a:ext cx="2436867" cy="602128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32240" y="1556792"/>
            <a:ext cx="1872208" cy="28803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092280" y="5157192"/>
            <a:ext cx="936104" cy="28803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582" y="2015108"/>
            <a:ext cx="2857500" cy="1485900"/>
          </a:xfrm>
          <a:prstGeom prst="rect">
            <a:avLst/>
          </a:prstGeom>
        </p:spPr>
      </p:pic>
      <p:sp>
        <p:nvSpPr>
          <p:cNvPr id="16" name="内容占位符 2"/>
          <p:cNvSpPr txBox="1">
            <a:spLocks/>
          </p:cNvSpPr>
          <p:nvPr/>
        </p:nvSpPr>
        <p:spPr bwMode="auto">
          <a:xfrm flipH="1">
            <a:off x="206414" y="3429000"/>
            <a:ext cx="580574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sz="2000" b="1" dirty="0"/>
              <a:t>•</a:t>
            </a:r>
            <a:r>
              <a:rPr lang="zh-CN" altLang="en-US" sz="2000" b="1" dirty="0"/>
              <a:t>右键单击需要的元器件，在弹出的对话框中点击</a:t>
            </a:r>
            <a:r>
              <a:rPr lang="en-US" altLang="zh-CN" sz="2000" b="1" dirty="0">
                <a:solidFill>
                  <a:schemeClr val="tx2"/>
                </a:solidFill>
              </a:rPr>
              <a:t>Place 2N3904</a:t>
            </a:r>
            <a:r>
              <a:rPr lang="zh-CN" altLang="en-US" sz="2000" b="1" dirty="0"/>
              <a:t>，将光标移到绘制工作区中，此时元器件以虚框的形式粘在光标上，将光标移到合适的位置，再次单击鼠标将元器件放置在图 样上。此时仍处于放置元器件的状态，可以继续放置元器件。单击鼠标右键可退出放置状态。</a:t>
            </a:r>
            <a:endParaRPr lang="en-US" altLang="zh-CN" sz="2000" b="1" dirty="0"/>
          </a:p>
        </p:txBody>
      </p:sp>
      <p:sp>
        <p:nvSpPr>
          <p:cNvPr id="17" name="矩形 16"/>
          <p:cNvSpPr/>
          <p:nvPr/>
        </p:nvSpPr>
        <p:spPr>
          <a:xfrm>
            <a:off x="6804248" y="2204864"/>
            <a:ext cx="1656184" cy="28803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86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 animBg="1"/>
      <p:bldP spid="7" grpId="1" animBg="1"/>
      <p:bldP spid="14" grpId="0" animBg="1"/>
      <p:bldP spid="14" grpId="1" animBg="1"/>
      <p:bldP spid="16" grpId="0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323528" y="4925086"/>
            <a:ext cx="8363272" cy="167226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• </a:t>
            </a:r>
            <a:r>
              <a:rPr lang="zh-CN" altLang="en-US" sz="2000" b="1" dirty="0"/>
              <a:t>重复前面的方法继续放置其他的元器件：电阻和电容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• </a:t>
            </a:r>
            <a:r>
              <a:rPr lang="zh-CN" altLang="en-US" sz="2000" b="1" dirty="0"/>
              <a:t>放大缩小图样：</a:t>
            </a:r>
            <a:r>
              <a:rPr lang="en-US" altLang="zh-CN" sz="2000" b="1" dirty="0"/>
              <a:t>Ctrl + </a:t>
            </a:r>
            <a:r>
              <a:rPr lang="zh-CN" altLang="en-US" sz="2000" b="1" dirty="0"/>
              <a:t>鼠标滚轮 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• </a:t>
            </a:r>
            <a:r>
              <a:rPr lang="zh-CN" altLang="en-US" sz="2000" b="1" dirty="0"/>
              <a:t>移动图纸：按住鼠标右键然后拖动鼠标</a:t>
            </a:r>
            <a:endParaRPr lang="en-US" altLang="zh-CN" sz="2000" b="1" dirty="0"/>
          </a:p>
          <a:p>
            <a:pPr marL="0" indent="0">
              <a:buFont typeface="Arial" charset="0"/>
              <a:buNone/>
            </a:pPr>
            <a:endParaRPr lang="en-US" altLang="zh-CN" sz="2000" b="1" dirty="0"/>
          </a:p>
          <a:p>
            <a:pPr marL="0" indent="0">
              <a:buFont typeface="Arial" charset="0"/>
              <a:buNone/>
            </a:pPr>
            <a:endParaRPr lang="en-US" altLang="zh-CN" sz="2000" b="1" dirty="0"/>
          </a:p>
          <a:p>
            <a:pPr marL="0" indent="0">
              <a:buFont typeface="Arial" charset="0"/>
              <a:buNone/>
            </a:pPr>
            <a:endParaRPr lang="en-US" altLang="zh-CN" sz="2000" b="1" dirty="0"/>
          </a:p>
          <a:p>
            <a:pPr marL="0" indent="0">
              <a:buFont typeface="Arial" charset="0"/>
              <a:buNone/>
            </a:pPr>
            <a:endParaRPr lang="en-US" altLang="zh-CN" sz="2000" b="1" dirty="0"/>
          </a:p>
          <a:p>
            <a:pPr marL="0" indent="0">
              <a:buFont typeface="Arial" charset="0"/>
              <a:buNone/>
            </a:pPr>
            <a:endParaRPr lang="en-US" altLang="zh-CN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64776"/>
            <a:ext cx="6277272" cy="387349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4185" y="408372"/>
            <a:ext cx="4151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放置元器件</a:t>
            </a:r>
          </a:p>
        </p:txBody>
      </p:sp>
    </p:spTree>
    <p:extLst>
      <p:ext uri="{BB962C8B-B14F-4D97-AF65-F5344CB8AC3E}">
        <p14:creationId xmlns:p14="http://schemas.microsoft.com/office/powerpoint/2010/main" val="84357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4824536" cy="22809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放置电源端口、</a:t>
            </a:r>
            <a:r>
              <a:rPr lang="en-US" altLang="zh-CN" sz="2400" b="1" dirty="0"/>
              <a:t>GND</a:t>
            </a:r>
            <a:r>
              <a:rPr lang="zh-CN" altLang="en-US" sz="2400" b="1" dirty="0"/>
              <a:t>端口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  右键点击工具栏中</a:t>
            </a:r>
            <a:r>
              <a:rPr lang="en-US" altLang="zh-CN" sz="2400" b="1" dirty="0"/>
              <a:t>         </a:t>
            </a:r>
            <a:r>
              <a:rPr lang="zh-CN" altLang="en-US" sz="2400" b="1" dirty="0"/>
              <a:t>图标，即可快速进行电源端口和</a:t>
            </a:r>
            <a:r>
              <a:rPr lang="en-US" altLang="zh-CN" sz="2400" b="1" dirty="0"/>
              <a:t>GND</a:t>
            </a:r>
            <a:r>
              <a:rPr lang="zh-CN" altLang="en-US" sz="2400" b="1" dirty="0"/>
              <a:t>端口的放置。</a:t>
            </a:r>
            <a:endParaRPr lang="en-US" altLang="zh-CN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912" y="1916832"/>
            <a:ext cx="495300" cy="485775"/>
          </a:xfrm>
          <a:prstGeom prst="rect">
            <a:avLst/>
          </a:prstGeom>
        </p:spPr>
      </p:pic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79512" y="3509000"/>
            <a:ext cx="4824536" cy="1792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/>
              <a:t>放置端口符号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zh-CN" altLang="en-US" sz="2400" b="1" dirty="0"/>
              <a:t>     右键点击工具栏中</a:t>
            </a:r>
            <a:r>
              <a:rPr lang="en-US" altLang="zh-CN" sz="2400" b="1" dirty="0"/>
              <a:t>         </a:t>
            </a:r>
            <a:r>
              <a:rPr lang="zh-CN" altLang="en-US" sz="2400" b="1" dirty="0"/>
              <a:t>图标，则可快速放置输入输出等端口。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912" y="4293096"/>
            <a:ext cx="491610" cy="43698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248" y="5750176"/>
            <a:ext cx="2000250" cy="971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1340768"/>
            <a:ext cx="3803902" cy="504056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04185" y="408372"/>
            <a:ext cx="4151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放置元器件</a:t>
            </a:r>
          </a:p>
        </p:txBody>
      </p:sp>
    </p:spTree>
    <p:extLst>
      <p:ext uri="{BB962C8B-B14F-4D97-AF65-F5344CB8AC3E}">
        <p14:creationId xmlns:p14="http://schemas.microsoft.com/office/powerpoint/2010/main" val="230421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204185" y="941912"/>
            <a:ext cx="5015887" cy="5688632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3027DD"/>
                </a:solidFill>
              </a:rPr>
              <a:t>快速找到器件方法：</a:t>
            </a:r>
            <a:r>
              <a:rPr lang="zh-CN" altLang="en-US" sz="2400" b="1" dirty="0"/>
              <a:t>有些元器件在库中较远的位置，这时可以在选中的库里，先随意点击一个器件，然后用键盘输入需要的器件名称，既可以快速找到，例如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脚单排插座</a:t>
            </a:r>
            <a:r>
              <a:rPr lang="en-US" altLang="zh-CN" sz="2400" b="1" dirty="0"/>
              <a:t>Header 2 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Connectors</a:t>
            </a:r>
            <a:r>
              <a:rPr lang="zh-CN" altLang="en-US" sz="2400" b="1" dirty="0"/>
              <a:t>库中很远的位置，先选中</a:t>
            </a:r>
            <a:r>
              <a:rPr lang="en-US" altLang="zh-CN" sz="2400" b="1" dirty="0"/>
              <a:t>BNC</a:t>
            </a:r>
            <a:r>
              <a:rPr lang="zh-CN" altLang="en-US" sz="2400" b="1" dirty="0"/>
              <a:t>，然后点击</a:t>
            </a:r>
            <a:r>
              <a:rPr lang="en-US" altLang="zh-CN" sz="2400" b="1" dirty="0"/>
              <a:t>Search</a:t>
            </a:r>
            <a:r>
              <a:rPr lang="zh-CN" altLang="en-US" sz="2400" b="1" dirty="0"/>
              <a:t>，输入</a:t>
            </a:r>
            <a:r>
              <a:rPr lang="en-US" altLang="zh-CN" sz="2400" b="1" dirty="0"/>
              <a:t>Header 2</a:t>
            </a:r>
            <a:r>
              <a:rPr lang="zh-CN" altLang="en-US" sz="2400" b="1" dirty="0"/>
              <a:t>后，软件会自动找到该器件。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440" y="837111"/>
            <a:ext cx="3476625" cy="1304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315" y="2358246"/>
            <a:ext cx="3476625" cy="198359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332147" y="3206028"/>
            <a:ext cx="1224136" cy="28803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147" y="4393426"/>
            <a:ext cx="3514697" cy="246457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340635" y="3911012"/>
            <a:ext cx="936104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04185" y="408372"/>
            <a:ext cx="4151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放置元器件</a:t>
            </a:r>
          </a:p>
        </p:txBody>
      </p:sp>
      <p:sp>
        <p:nvSpPr>
          <p:cNvPr id="16" name="矩形 15"/>
          <p:cNvSpPr/>
          <p:nvPr/>
        </p:nvSpPr>
        <p:spPr>
          <a:xfrm>
            <a:off x="5340635" y="5229200"/>
            <a:ext cx="1391605" cy="36004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2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0" grpId="0" animBg="1"/>
      <p:bldP spid="10" grpId="1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556793"/>
            <a:ext cx="8435280" cy="453650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• </a:t>
            </a:r>
            <a:r>
              <a:rPr lang="zh-CN" altLang="en-US" sz="2400" b="1" dirty="0"/>
              <a:t>调整元器件位置：鼠标左键选中元器件按住不放，移动鼠标，松开鼠标左键。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• </a:t>
            </a:r>
            <a:r>
              <a:rPr lang="zh-CN" altLang="en-US" sz="2400" b="1" dirty="0"/>
              <a:t>旋转元器件：鼠标左键选中元器件按住不放，按空格键，松开鼠标左键。 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翻转元器件：鼠标左键选中元器件按住不放，按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，松开鼠标左键。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注意：确保输入法是英文状态。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2.2.5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元器件位置调整</a:t>
            </a:r>
          </a:p>
        </p:txBody>
      </p:sp>
    </p:spTree>
    <p:extLst>
      <p:ext uri="{BB962C8B-B14F-4D97-AF65-F5344CB8AC3E}">
        <p14:creationId xmlns:p14="http://schemas.microsoft.com/office/powerpoint/2010/main" val="3698047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2.2.6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设置元器件属性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1"/>
            <a:ext cx="5760640" cy="244827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设置元器件属性：双击元器件，打开</a:t>
            </a:r>
            <a:r>
              <a:rPr lang="en-US" altLang="zh-CN" sz="2400" b="1" dirty="0"/>
              <a:t>Properties</a:t>
            </a:r>
            <a:r>
              <a:rPr lang="zh-CN" altLang="en-US" sz="2400" b="1" dirty="0"/>
              <a:t>对话框</a:t>
            </a:r>
            <a:endParaRPr lang="en-US" altLang="zh-CN" sz="2400" b="1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b="1" dirty="0"/>
              <a:t>• Designator: </a:t>
            </a:r>
            <a:r>
              <a:rPr lang="zh-CN" altLang="en-US" sz="2400" b="1" dirty="0"/>
              <a:t>编号 </a:t>
            </a:r>
            <a:endParaRPr lang="en-US" altLang="zh-CN" sz="2400" b="1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b="1" dirty="0"/>
              <a:t>• Comment:  </a:t>
            </a:r>
            <a:r>
              <a:rPr lang="zh-CN" altLang="en-US" sz="2400" b="1" dirty="0"/>
              <a:t>注释</a:t>
            </a:r>
            <a:endParaRPr lang="en-US" altLang="zh-CN" sz="24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88" y="1115198"/>
            <a:ext cx="2796782" cy="2994920"/>
          </a:xfrm>
          <a:prstGeom prst="rect">
            <a:avLst/>
          </a:prstGeom>
        </p:spPr>
      </p:pic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314960" y="3600286"/>
            <a:ext cx="5960012" cy="109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/>
              <a:t>• Value: </a:t>
            </a:r>
            <a:r>
              <a:rPr lang="zh-CN" altLang="en-US" sz="2400" b="1" dirty="0"/>
              <a:t>参数 （不是每个器件都有这个属性）</a:t>
            </a:r>
            <a:endParaRPr lang="en-US" altLang="zh-CN" sz="2400" b="1" dirty="0"/>
          </a:p>
        </p:txBody>
      </p:sp>
      <p:sp>
        <p:nvSpPr>
          <p:cNvPr id="13" name="矩形 12"/>
          <p:cNvSpPr/>
          <p:nvPr/>
        </p:nvSpPr>
        <p:spPr>
          <a:xfrm>
            <a:off x="6588224" y="2676912"/>
            <a:ext cx="792088" cy="2274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588224" y="2940962"/>
            <a:ext cx="792088" cy="24000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869160"/>
            <a:ext cx="481971" cy="49703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88" y="4110118"/>
            <a:ext cx="2796782" cy="273482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6188088" y="6309320"/>
            <a:ext cx="1984312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内容占位符 2"/>
          <p:cNvSpPr txBox="1">
            <a:spLocks/>
          </p:cNvSpPr>
          <p:nvPr/>
        </p:nvSpPr>
        <p:spPr bwMode="auto">
          <a:xfrm>
            <a:off x="251520" y="4737943"/>
            <a:ext cx="5472608" cy="1549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通过点击        图标可以选择是否在原理图中显示这些属性。 </a:t>
            </a:r>
            <a:endParaRPr lang="en-US" altLang="zh-CN" sz="2400" b="1" dirty="0"/>
          </a:p>
        </p:txBody>
      </p:sp>
      <p:sp>
        <p:nvSpPr>
          <p:cNvPr id="19" name="矩形 18"/>
          <p:cNvSpPr/>
          <p:nvPr/>
        </p:nvSpPr>
        <p:spPr>
          <a:xfrm>
            <a:off x="8172400" y="2564904"/>
            <a:ext cx="288032" cy="61606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06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2" grpId="0"/>
      <p:bldP spid="13" grpId="0" animBg="1"/>
      <p:bldP spid="13" grpId="1" animBg="1"/>
      <p:bldP spid="14" grpId="0" animBg="1"/>
      <p:bldP spid="14" grpId="1" animBg="1"/>
      <p:bldP spid="17" grpId="0" animBg="1"/>
      <p:bldP spid="17" grpId="1" animBg="1"/>
      <p:bldP spid="18" grpId="0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0" y="980728"/>
            <a:ext cx="5220072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sz="2000" b="1" dirty="0"/>
              <a:t>• </a:t>
            </a:r>
            <a:r>
              <a:rPr lang="zh-CN" altLang="en-US" sz="2000" b="1" dirty="0"/>
              <a:t>在将选中的元器件放置到图纸之前进行元器件属性操作有时更方便。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/>
              <a:t>例如放置电阻</a:t>
            </a:r>
            <a:r>
              <a:rPr lang="en-US" altLang="zh-CN" sz="2000" b="1" dirty="0"/>
              <a:t>Res2</a:t>
            </a:r>
            <a:r>
              <a:rPr lang="zh-CN" altLang="en-US" sz="2000" b="1" dirty="0"/>
              <a:t>：方法是右键单击</a:t>
            </a:r>
            <a:r>
              <a:rPr lang="en-US" altLang="zh-CN" sz="2000" b="1" dirty="0"/>
              <a:t>Res2</a:t>
            </a:r>
            <a:r>
              <a:rPr lang="zh-CN" altLang="en-US" sz="2000" b="1" dirty="0"/>
              <a:t>，在弹出的对话框中点击</a:t>
            </a:r>
            <a:r>
              <a:rPr lang="en-US" altLang="zh-CN" sz="2000" b="1" dirty="0">
                <a:solidFill>
                  <a:schemeClr val="tx2"/>
                </a:solidFill>
              </a:rPr>
              <a:t>Place Res2</a:t>
            </a:r>
            <a:r>
              <a:rPr lang="zh-CN" altLang="en-US" sz="2000" b="1" dirty="0"/>
              <a:t>，将光标移到绘制工作区中，此时元器件会以虚框的形式粘在光标上，这时先不放置元器件到图纸上，而是</a:t>
            </a:r>
            <a:r>
              <a:rPr lang="zh-CN" altLang="en-US" sz="2000" b="1" dirty="0">
                <a:solidFill>
                  <a:srgbClr val="FF0000"/>
                </a:solidFill>
              </a:rPr>
              <a:t>点击</a:t>
            </a:r>
            <a:r>
              <a:rPr lang="en-US" altLang="zh-CN" sz="2000" b="1" dirty="0">
                <a:solidFill>
                  <a:srgbClr val="FF0000"/>
                </a:solidFill>
              </a:rPr>
              <a:t>Tab</a:t>
            </a:r>
            <a:r>
              <a:rPr lang="zh-CN" altLang="en-US" sz="2000" b="1" dirty="0">
                <a:solidFill>
                  <a:srgbClr val="FF0000"/>
                </a:solidFill>
              </a:rPr>
              <a:t>键</a:t>
            </a:r>
            <a:r>
              <a:rPr lang="zh-CN" altLang="en-US" sz="2000" b="1" dirty="0"/>
              <a:t>，软件会弹出</a:t>
            </a:r>
            <a:r>
              <a:rPr lang="en-US" altLang="zh-CN" sz="2000" b="1" dirty="0"/>
              <a:t>Properties</a:t>
            </a:r>
            <a:r>
              <a:rPr lang="zh-CN" altLang="en-US" sz="2000" b="1" dirty="0"/>
              <a:t>对话框，并锁定，可修改各种参数，其中</a:t>
            </a:r>
            <a:r>
              <a:rPr lang="zh-CN" altLang="en-US" sz="2000" b="1" dirty="0">
                <a:solidFill>
                  <a:srgbClr val="FF0000"/>
                </a:solidFill>
              </a:rPr>
              <a:t>修改</a:t>
            </a:r>
            <a:r>
              <a:rPr lang="en-US" altLang="zh-CN" sz="2000" b="1" dirty="0">
                <a:solidFill>
                  <a:srgbClr val="FF0000"/>
                </a:solidFill>
              </a:rPr>
              <a:t>Designator</a:t>
            </a:r>
            <a:r>
              <a:rPr lang="zh-CN" altLang="en-US" sz="2000" b="1" dirty="0">
                <a:solidFill>
                  <a:srgbClr val="FF0000"/>
                </a:solidFill>
              </a:rPr>
              <a:t>编号，后面马上放置相同器件编号可以自动增加。 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10992" y="6137920"/>
            <a:ext cx="6048672" cy="720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sz="2000" b="1" dirty="0"/>
              <a:t>• </a:t>
            </a:r>
            <a:r>
              <a:rPr lang="zh-CN" altLang="en-US" sz="2000" b="1" dirty="0"/>
              <a:t>删除元器件：选中元器件，按键盘上的</a:t>
            </a:r>
            <a:r>
              <a:rPr lang="en-US" altLang="zh-CN" sz="2000" b="1" dirty="0"/>
              <a:t>Delete</a:t>
            </a:r>
            <a:r>
              <a:rPr lang="zh-CN" altLang="en-US" sz="2000" b="1" dirty="0"/>
              <a:t>键。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127972"/>
            <a:ext cx="3573432" cy="3813197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2063919" y="5140321"/>
            <a:ext cx="7080081" cy="47313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zh-CN" altLang="en-US" sz="2000" b="1" dirty="0"/>
              <a:t>属性全部设置好之后，点击           解除锁定，然后再将元器件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636" y="5243845"/>
            <a:ext cx="566000" cy="418748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0" y="5641462"/>
            <a:ext cx="4726304" cy="5882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zh-CN" altLang="en-US" sz="2000" b="1" dirty="0"/>
              <a:t>放置到图纸上。</a:t>
            </a:r>
          </a:p>
        </p:txBody>
      </p:sp>
      <p:sp>
        <p:nvSpPr>
          <p:cNvPr id="9" name="矩形 8"/>
          <p:cNvSpPr/>
          <p:nvPr/>
        </p:nvSpPr>
        <p:spPr>
          <a:xfrm>
            <a:off x="204185" y="408372"/>
            <a:ext cx="4151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设置元器件属性</a:t>
            </a:r>
          </a:p>
        </p:txBody>
      </p:sp>
    </p:spTree>
    <p:extLst>
      <p:ext uri="{BB962C8B-B14F-4D97-AF65-F5344CB8AC3E}">
        <p14:creationId xmlns:p14="http://schemas.microsoft.com/office/powerpoint/2010/main" val="355746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4185" y="408372"/>
            <a:ext cx="4151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设置元器件属性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7504" y="1107568"/>
            <a:ext cx="8856984" cy="109729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自动编号：单击菜单里的</a:t>
            </a:r>
            <a:r>
              <a:rPr lang="zh-CN" altLang="en-US" sz="2400" b="1" dirty="0">
                <a:solidFill>
                  <a:schemeClr val="tx2"/>
                </a:solidFill>
              </a:rPr>
              <a:t>工具</a:t>
            </a:r>
            <a:r>
              <a:rPr lang="en-US" altLang="zh-CN" sz="2400" b="1" dirty="0"/>
              <a:t>→ </a:t>
            </a:r>
            <a:r>
              <a:rPr lang="zh-CN" altLang="en-US" sz="2400" b="1" dirty="0">
                <a:solidFill>
                  <a:schemeClr val="tx2"/>
                </a:solidFill>
              </a:rPr>
              <a:t>标注</a:t>
            </a:r>
            <a:r>
              <a:rPr lang="en-US" altLang="zh-CN" sz="2400" b="1" dirty="0"/>
              <a:t>→</a:t>
            </a:r>
            <a:r>
              <a:rPr lang="zh-CN" altLang="en-US" sz="2400" b="1" dirty="0">
                <a:solidFill>
                  <a:schemeClr val="tx2"/>
                </a:solidFill>
              </a:rPr>
              <a:t>原理图标注</a:t>
            </a:r>
            <a:r>
              <a:rPr lang="zh-CN" altLang="en-US" sz="2400" b="1" dirty="0"/>
              <a:t>，可以对原理图中的元器件进行自动编号，软件提供了多种处理顺序。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1" y="2830207"/>
            <a:ext cx="1397965" cy="13374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6" y="4208135"/>
            <a:ext cx="1418265" cy="1356868"/>
          </a:xfrm>
          <a:prstGeom prst="rect">
            <a:avLst/>
          </a:prstGeom>
        </p:spPr>
      </p:pic>
      <p:sp>
        <p:nvSpPr>
          <p:cNvPr id="11" name="内容占位符 2"/>
          <p:cNvSpPr txBox="1">
            <a:spLocks/>
          </p:cNvSpPr>
          <p:nvPr/>
        </p:nvSpPr>
        <p:spPr>
          <a:xfrm>
            <a:off x="60499" y="2158125"/>
            <a:ext cx="8759973" cy="6321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本例中选择</a:t>
            </a:r>
            <a:r>
              <a:rPr lang="en-US" altLang="zh-CN" sz="2400" b="1" dirty="0"/>
              <a:t>Down then Across</a:t>
            </a:r>
            <a:r>
              <a:rPr lang="zh-CN" altLang="en-US" sz="2400" b="1" dirty="0"/>
              <a:t>，点击</a:t>
            </a:r>
            <a:r>
              <a:rPr lang="zh-CN" altLang="en-US" sz="2400" b="1" dirty="0">
                <a:solidFill>
                  <a:schemeClr val="tx2"/>
                </a:solidFill>
              </a:rPr>
              <a:t>更新更改列表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834918"/>
            <a:ext cx="6876256" cy="391961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1" y="5605486"/>
            <a:ext cx="1392300" cy="127219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364088" y="6241581"/>
            <a:ext cx="792088" cy="28376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23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4185" y="408372"/>
            <a:ext cx="4151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自动编号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77313" y="931593"/>
            <a:ext cx="5358783" cy="12012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在出现的对话框中点击</a:t>
            </a:r>
            <a:r>
              <a:rPr lang="en-US" altLang="zh-CN" sz="2400" b="1" dirty="0"/>
              <a:t>OK</a:t>
            </a:r>
            <a:r>
              <a:rPr lang="zh-CN" altLang="en-US" sz="2400" b="1" dirty="0"/>
              <a:t>后，系统会给出建议值，选择</a:t>
            </a:r>
            <a:r>
              <a:rPr lang="zh-CN" altLang="en-US" sz="2400" b="1" dirty="0">
                <a:solidFill>
                  <a:schemeClr val="tx2"/>
                </a:solidFill>
              </a:rPr>
              <a:t>接收更改</a:t>
            </a:r>
            <a:r>
              <a:rPr lang="en-US" altLang="zh-CN" sz="2400" b="1" dirty="0">
                <a:solidFill>
                  <a:schemeClr val="tx2"/>
                </a:solidFill>
              </a:rPr>
              <a:t>(</a:t>
            </a:r>
            <a:r>
              <a:rPr lang="zh-CN" altLang="en-US" sz="2400" b="1" dirty="0">
                <a:solidFill>
                  <a:schemeClr val="tx2"/>
                </a:solidFill>
              </a:rPr>
              <a:t>创建</a:t>
            </a:r>
            <a:r>
              <a:rPr lang="en-US" altLang="zh-CN" sz="2400" b="1" dirty="0">
                <a:solidFill>
                  <a:schemeClr val="tx2"/>
                </a:solidFill>
              </a:rPr>
              <a:t>ECO)</a:t>
            </a:r>
            <a:endParaRPr lang="en-US" altLang="zh-CN" sz="2400" b="1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161" y="1991079"/>
            <a:ext cx="5292080" cy="176203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在弹出的工程变更指令对话框中选择</a:t>
            </a:r>
            <a:r>
              <a:rPr lang="zh-CN" altLang="en-US" sz="2400" b="1" dirty="0">
                <a:solidFill>
                  <a:schemeClr val="tx2"/>
                </a:solidFill>
              </a:rPr>
              <a:t>执行变更</a:t>
            </a:r>
            <a:r>
              <a:rPr lang="zh-CN" altLang="en-US" sz="2400" b="1" dirty="0"/>
              <a:t>，状态检测完成无误后就完成了自动编号。</a:t>
            </a:r>
            <a:endParaRPr lang="en-US" altLang="zh-CN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786659"/>
            <a:ext cx="3240359" cy="355649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740352" y="4079017"/>
            <a:ext cx="864096" cy="26607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430448"/>
            <a:ext cx="7914804" cy="236671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732240" y="939696"/>
            <a:ext cx="396043" cy="137364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596335" y="4725144"/>
            <a:ext cx="1152127" cy="207202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02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12" grpId="0" animBg="1"/>
      <p:bldP spid="15" grpId="0" animBg="1"/>
      <p:bldP spid="15" grpId="1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5" y="1039773"/>
            <a:ext cx="5748105" cy="4171593"/>
          </a:xfrm>
          <a:prstGeom prst="rect">
            <a:avLst/>
          </a:prstGeom>
        </p:spPr>
      </p:pic>
      <p:sp>
        <p:nvSpPr>
          <p:cNvPr id="4" name="内容占位符 2"/>
          <p:cNvSpPr txBox="1">
            <a:spLocks/>
          </p:cNvSpPr>
          <p:nvPr/>
        </p:nvSpPr>
        <p:spPr>
          <a:xfrm>
            <a:off x="107505" y="5301209"/>
            <a:ext cx="8784976" cy="1080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•</a:t>
            </a:r>
            <a:r>
              <a:rPr lang="zh-CN" altLang="en-US" sz="2000" b="1" dirty="0"/>
              <a:t>单击菜单里的</a:t>
            </a:r>
            <a:r>
              <a:rPr lang="zh-CN" altLang="en-US" sz="2000" b="1" dirty="0">
                <a:solidFill>
                  <a:schemeClr val="tx2"/>
                </a:solidFill>
              </a:rPr>
              <a:t>工具</a:t>
            </a:r>
            <a:r>
              <a:rPr lang="en-US" altLang="zh-CN" sz="2000" b="1" dirty="0"/>
              <a:t>→ </a:t>
            </a:r>
            <a:r>
              <a:rPr lang="zh-CN" altLang="en-US" sz="2000" b="1" dirty="0">
                <a:solidFill>
                  <a:schemeClr val="tx2"/>
                </a:solidFill>
              </a:rPr>
              <a:t>标注</a:t>
            </a:r>
            <a:r>
              <a:rPr lang="en-US" altLang="zh-CN" sz="2000" b="1" dirty="0"/>
              <a:t>→</a:t>
            </a:r>
            <a:r>
              <a:rPr lang="zh-CN" altLang="en-US" sz="2000" b="1" dirty="0">
                <a:solidFill>
                  <a:schemeClr val="tx2"/>
                </a:solidFill>
              </a:rPr>
              <a:t>重置原理图标注</a:t>
            </a:r>
            <a:r>
              <a:rPr lang="zh-CN" altLang="en-US" sz="2000" b="1" dirty="0"/>
              <a:t>，可清除不满意的编号，然后重新进行编号</a:t>
            </a:r>
            <a:endParaRPr lang="en-US" altLang="zh-CN" sz="2000" b="1" dirty="0"/>
          </a:p>
        </p:txBody>
      </p:sp>
      <p:sp>
        <p:nvSpPr>
          <p:cNvPr id="5" name="矩形 4"/>
          <p:cNvSpPr/>
          <p:nvPr/>
        </p:nvSpPr>
        <p:spPr>
          <a:xfrm>
            <a:off x="204185" y="408372"/>
            <a:ext cx="4151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自动编号完成的原理图</a:t>
            </a:r>
          </a:p>
        </p:txBody>
      </p:sp>
    </p:spTree>
    <p:extLst>
      <p:ext uri="{BB962C8B-B14F-4D97-AF65-F5344CB8AC3E}">
        <p14:creationId xmlns:p14="http://schemas.microsoft.com/office/powerpoint/2010/main" val="83765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2.2.7 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</a:rPr>
              <a:t>连线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880" y="1146972"/>
            <a:ext cx="8892480" cy="230425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导线连接法：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   </a:t>
            </a:r>
            <a:r>
              <a:rPr lang="zh-CN" altLang="en-US" sz="2400" b="1" dirty="0"/>
              <a:t>点击工具栏的连线按钮，光标变为</a:t>
            </a:r>
            <a:r>
              <a:rPr lang="en-US" altLang="zh-CN" sz="2400" b="1" dirty="0"/>
              <a:t>×</a:t>
            </a:r>
            <a:r>
              <a:rPr lang="zh-CN" altLang="en-US" sz="2400" b="1" dirty="0"/>
              <a:t>形，在连线的起点第一次单击鼠标左键，再在连线的终点第二次单击鼠标左键，完成两点的连接。此时仍处于连线状态，单击鼠标右键，退出连线状态。</a:t>
            </a:r>
            <a:endParaRPr lang="en-US" altLang="zh-CN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608" y="3879071"/>
            <a:ext cx="1800225" cy="1952625"/>
          </a:xfrm>
          <a:prstGeom prst="rect">
            <a:avLst/>
          </a:prstGeom>
        </p:spPr>
      </p:pic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179512" y="3451228"/>
            <a:ext cx="683309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网络标签连接法：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Font typeface="Arial" charset="0"/>
              <a:buNone/>
            </a:pPr>
            <a:r>
              <a:rPr lang="en-US" altLang="zh-CN" sz="2400" b="1" dirty="0"/>
              <a:t>   </a:t>
            </a:r>
            <a:r>
              <a:rPr lang="zh-CN" altLang="en-US" sz="2400" b="1" dirty="0"/>
              <a:t>在复杂电路原理图中，则可以通过网络标签的方法实现元器件之间的连接。以达到简化电路原理图的目的。通过执行菜单命令</a:t>
            </a:r>
            <a:r>
              <a:rPr lang="zh-CN" altLang="en-US" sz="2400" b="1" dirty="0">
                <a:solidFill>
                  <a:schemeClr val="tx2"/>
                </a:solidFill>
              </a:rPr>
              <a:t>放置</a:t>
            </a:r>
            <a:r>
              <a:rPr lang="en-US" altLang="zh-CN" sz="2400" b="1" dirty="0"/>
              <a:t> → </a:t>
            </a:r>
            <a:r>
              <a:rPr lang="zh-CN" altLang="en-US" sz="2400" b="1" dirty="0">
                <a:solidFill>
                  <a:schemeClr val="tx2"/>
                </a:solidFill>
              </a:rPr>
              <a:t>网络标签</a:t>
            </a:r>
            <a:r>
              <a:rPr lang="zh-CN" altLang="en-US" sz="2400" b="1" dirty="0"/>
              <a:t>实现。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25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2.2.8 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</a:rPr>
              <a:t>编译和检查错误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6627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保存原理图文件，保存工程；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右键单击项目文件，选择第一项：</a:t>
            </a:r>
            <a:r>
              <a:rPr lang="en-US" altLang="zh-CN" sz="2400" b="1" dirty="0">
                <a:solidFill>
                  <a:schemeClr val="tx2"/>
                </a:solidFill>
              </a:rPr>
              <a:t>Validate PCB Project </a:t>
            </a:r>
            <a:r>
              <a:rPr lang="en-US" altLang="zh-CN" sz="2400" b="1" dirty="0" err="1">
                <a:solidFill>
                  <a:schemeClr val="tx2"/>
                </a:solidFill>
              </a:rPr>
              <a:t>PCB_Project.PrjPcb</a:t>
            </a:r>
            <a:r>
              <a:rPr lang="zh-CN" altLang="en-US" sz="2400" b="1" dirty="0"/>
              <a:t>； 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点击右下角</a:t>
            </a:r>
            <a:r>
              <a:rPr lang="en-US" altLang="zh-CN" sz="2400" b="1" dirty="0">
                <a:solidFill>
                  <a:schemeClr val="tx2"/>
                </a:solidFill>
              </a:rPr>
              <a:t>Panels</a:t>
            </a:r>
            <a:r>
              <a:rPr lang="en-US" altLang="zh-CN" sz="2400" b="1" dirty="0"/>
              <a:t> → </a:t>
            </a:r>
            <a:r>
              <a:rPr lang="en-US" altLang="zh-CN" sz="2400" b="1" dirty="0">
                <a:solidFill>
                  <a:schemeClr val="tx2"/>
                </a:solidFill>
              </a:rPr>
              <a:t>Messages</a:t>
            </a:r>
            <a:r>
              <a:rPr lang="zh-CN" altLang="en-US" sz="2400" b="1" dirty="0"/>
              <a:t>，在对话框可以看到错误提示，双击可以定位错误位置。 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5000939"/>
            <a:ext cx="6157494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53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srgbClr val="3027DD"/>
                </a:solidFill>
              </a:rPr>
              <a:t>练习：完成下面原理图的绘制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132856"/>
            <a:ext cx="620077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49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2.2.9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网表报表输出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6627"/>
            <a:ext cx="5987008" cy="319851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 </a:t>
            </a:r>
            <a:r>
              <a:rPr lang="zh-CN" altLang="en-US" sz="2400" b="1" dirty="0"/>
              <a:t>网表输出：单击菜单里的</a:t>
            </a:r>
            <a:r>
              <a:rPr lang="zh-CN" altLang="en-US" sz="2400" b="1" dirty="0">
                <a:solidFill>
                  <a:schemeClr val="tx2"/>
                </a:solidFill>
              </a:rPr>
              <a:t>设计</a:t>
            </a:r>
            <a:r>
              <a:rPr lang="en-US" altLang="zh-CN" sz="2400" b="1" dirty="0"/>
              <a:t>→ </a:t>
            </a:r>
            <a:r>
              <a:rPr lang="zh-CN" altLang="en-US" sz="2400" b="1" dirty="0">
                <a:solidFill>
                  <a:schemeClr val="tx2"/>
                </a:solidFill>
              </a:rPr>
              <a:t>工程的网络表</a:t>
            </a:r>
            <a:r>
              <a:rPr lang="en-US" altLang="zh-CN" sz="2400" b="1" dirty="0"/>
              <a:t>→ </a:t>
            </a:r>
            <a:r>
              <a:rPr lang="en-US" altLang="zh-CN" sz="2400" b="1" dirty="0">
                <a:solidFill>
                  <a:schemeClr val="tx2"/>
                </a:solidFill>
              </a:rPr>
              <a:t>PCAD</a:t>
            </a:r>
            <a:r>
              <a:rPr lang="zh-CN" altLang="en-US" sz="2400" b="1" dirty="0">
                <a:solidFill>
                  <a:schemeClr val="tx2"/>
                </a:solidFill>
              </a:rPr>
              <a:t> </a:t>
            </a:r>
            <a:r>
              <a:rPr lang="zh-CN" altLang="en-US" sz="2400" b="1" dirty="0"/>
              <a:t>，就自动生成</a:t>
            </a:r>
            <a:r>
              <a:rPr lang="en-US" altLang="zh-CN" sz="2400" b="1" dirty="0"/>
              <a:t>xxx.NET</a:t>
            </a:r>
            <a:r>
              <a:rPr lang="zh-CN" altLang="en-US" sz="2400" b="1" dirty="0"/>
              <a:t>文件，在项目管理器</a:t>
            </a:r>
            <a:r>
              <a:rPr lang="en-US" altLang="zh-CN" sz="2400" b="1" dirty="0"/>
              <a:t>Generated</a:t>
            </a:r>
            <a:r>
              <a:rPr lang="zh-CN" altLang="en-US" sz="2400" b="1" dirty="0"/>
              <a:t>里查看。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报表输出：单击菜单里的</a:t>
            </a:r>
            <a:r>
              <a:rPr lang="zh-CN" altLang="en-US" sz="2400" b="1" dirty="0">
                <a:solidFill>
                  <a:schemeClr val="tx2"/>
                </a:solidFill>
              </a:rPr>
              <a:t>报告</a:t>
            </a:r>
            <a:r>
              <a:rPr lang="en-US" altLang="zh-CN" sz="2400" b="1" dirty="0"/>
              <a:t>→ </a:t>
            </a:r>
            <a:r>
              <a:rPr lang="en-US" altLang="zh-CN" sz="2400" b="1" dirty="0">
                <a:solidFill>
                  <a:schemeClr val="tx2"/>
                </a:solidFill>
              </a:rPr>
              <a:t>Bill of Materials</a:t>
            </a:r>
            <a:r>
              <a:rPr lang="zh-CN" altLang="en-US" sz="2400" b="1" dirty="0"/>
              <a:t>会弹出项目报表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718" y="1564589"/>
            <a:ext cx="2313606" cy="306265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732240" y="3573016"/>
            <a:ext cx="2088232" cy="57606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97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</a:t>
            </a:r>
            <a:r>
              <a:rPr lang="en-US" altLang="zh-CN" sz="4000" b="1" dirty="0">
                <a:solidFill>
                  <a:srgbClr val="FF0000"/>
                </a:solidFill>
              </a:rPr>
              <a:t>  </a:t>
            </a:r>
            <a:r>
              <a:rPr lang="zh-CN" altLang="en-US" sz="4000" b="1" dirty="0">
                <a:solidFill>
                  <a:srgbClr val="FF0000"/>
                </a:solidFill>
              </a:rPr>
              <a:t>原理图库元件制作与使用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8928992" cy="518457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 原理图库元件的创建流程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          以数码管为例介绍创建方法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</p:txBody>
      </p:sp>
      <p:sp>
        <p:nvSpPr>
          <p:cNvPr id="6" name="矩形 5"/>
          <p:cNvSpPr/>
          <p:nvPr/>
        </p:nvSpPr>
        <p:spPr>
          <a:xfrm>
            <a:off x="584146" y="3432734"/>
            <a:ext cx="720081" cy="18002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创建原理图库文件</a:t>
            </a:r>
          </a:p>
        </p:txBody>
      </p:sp>
      <p:sp>
        <p:nvSpPr>
          <p:cNvPr id="23" name="矩形 22"/>
          <p:cNvSpPr/>
          <p:nvPr/>
        </p:nvSpPr>
        <p:spPr>
          <a:xfrm>
            <a:off x="1652421" y="3432734"/>
            <a:ext cx="720080" cy="18002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设置工作参数</a:t>
            </a:r>
          </a:p>
        </p:txBody>
      </p:sp>
      <p:sp>
        <p:nvSpPr>
          <p:cNvPr id="24" name="矩形 23"/>
          <p:cNvSpPr/>
          <p:nvPr/>
        </p:nvSpPr>
        <p:spPr>
          <a:xfrm>
            <a:off x="4950179" y="3432734"/>
            <a:ext cx="720080" cy="18002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设置引脚属性</a:t>
            </a:r>
          </a:p>
        </p:txBody>
      </p:sp>
      <p:sp>
        <p:nvSpPr>
          <p:cNvPr id="25" name="矩形 24"/>
          <p:cNvSpPr/>
          <p:nvPr/>
        </p:nvSpPr>
        <p:spPr>
          <a:xfrm>
            <a:off x="2727354" y="3432734"/>
            <a:ext cx="720080" cy="18002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绘制元件图形</a:t>
            </a:r>
          </a:p>
        </p:txBody>
      </p:sp>
      <p:sp>
        <p:nvSpPr>
          <p:cNvPr id="26" name="矩形 25"/>
          <p:cNvSpPr/>
          <p:nvPr/>
        </p:nvSpPr>
        <p:spPr>
          <a:xfrm>
            <a:off x="3838184" y="3432734"/>
            <a:ext cx="720080" cy="18002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绘制元件引脚</a:t>
            </a:r>
          </a:p>
        </p:txBody>
      </p:sp>
      <p:sp>
        <p:nvSpPr>
          <p:cNvPr id="27" name="矩形 26"/>
          <p:cNvSpPr/>
          <p:nvPr/>
        </p:nvSpPr>
        <p:spPr>
          <a:xfrm>
            <a:off x="6046697" y="3398863"/>
            <a:ext cx="720080" cy="18002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设置元件属性</a:t>
            </a:r>
          </a:p>
        </p:txBody>
      </p:sp>
      <p:sp>
        <p:nvSpPr>
          <p:cNvPr id="28" name="矩形 27"/>
          <p:cNvSpPr/>
          <p:nvPr/>
        </p:nvSpPr>
        <p:spPr>
          <a:xfrm>
            <a:off x="7124287" y="3432734"/>
            <a:ext cx="720080" cy="18002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元件规则检查</a:t>
            </a:r>
          </a:p>
        </p:txBody>
      </p:sp>
      <p:cxnSp>
        <p:nvCxnSpPr>
          <p:cNvPr id="31" name="直接箭头连接符 30"/>
          <p:cNvCxnSpPr>
            <a:stCxn id="6" idx="3"/>
            <a:endCxn id="23" idx="1"/>
          </p:cNvCxnSpPr>
          <p:nvPr/>
        </p:nvCxnSpPr>
        <p:spPr>
          <a:xfrm>
            <a:off x="1304227" y="4332834"/>
            <a:ext cx="36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2372501" y="4332834"/>
            <a:ext cx="36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3462809" y="4332834"/>
            <a:ext cx="36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4572000" y="4334069"/>
            <a:ext cx="36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670259" y="4332834"/>
            <a:ext cx="36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6766777" y="4332834"/>
            <a:ext cx="3600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572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8363272" cy="439248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右键单击项目文件，选择</a:t>
            </a:r>
            <a:r>
              <a:rPr lang="zh-CN" altLang="en-US" sz="2400" b="1" dirty="0">
                <a:solidFill>
                  <a:schemeClr val="tx2"/>
                </a:solidFill>
              </a:rPr>
              <a:t>添加新的</a:t>
            </a:r>
            <a:r>
              <a:rPr lang="en-US" altLang="zh-CN" sz="2400" b="1" dirty="0">
                <a:solidFill>
                  <a:schemeClr val="tx2"/>
                </a:solidFill>
              </a:rPr>
              <a:t>…</a:t>
            </a:r>
            <a:r>
              <a:rPr lang="zh-CN" altLang="en-US" sz="2400" b="1" dirty="0">
                <a:solidFill>
                  <a:schemeClr val="tx2"/>
                </a:solidFill>
              </a:rPr>
              <a:t>到工程</a:t>
            </a:r>
            <a:r>
              <a:rPr lang="en-US" altLang="zh-CN" sz="2400" b="1" dirty="0"/>
              <a:t>→ </a:t>
            </a:r>
            <a:r>
              <a:rPr lang="en-US" altLang="zh-CN" sz="2400" b="1" dirty="0">
                <a:solidFill>
                  <a:schemeClr val="tx2"/>
                </a:solidFill>
              </a:rPr>
              <a:t>Schematic 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Library</a:t>
            </a:r>
            <a:r>
              <a:rPr lang="zh-CN" altLang="en-US" sz="2400" b="1" dirty="0"/>
              <a:t>，软件在当前项目文件夹下建立了原理图库文件</a:t>
            </a:r>
            <a:r>
              <a:rPr lang="en-US" altLang="zh-CN" sz="2400" b="1" dirty="0"/>
              <a:t>Schlib1.</a:t>
            </a:r>
            <a:r>
              <a:rPr lang="en-US" altLang="zh-CN" sz="2400" b="1" dirty="0">
                <a:solidFill>
                  <a:srgbClr val="FF0000"/>
                </a:solidFill>
              </a:rPr>
              <a:t>Schlib </a:t>
            </a:r>
            <a:r>
              <a:rPr lang="zh-CN" altLang="en-US" sz="2400" b="1" dirty="0"/>
              <a:t>； 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先点击箭头切换左下角的面板到</a:t>
            </a:r>
            <a:r>
              <a:rPr lang="en-US" altLang="zh-CN" sz="2400" b="1" dirty="0"/>
              <a:t>Projects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然后右键单击原理图库文件，选择</a:t>
            </a:r>
            <a:r>
              <a:rPr lang="zh-CN" altLang="en-US" sz="2400" b="1" dirty="0">
                <a:solidFill>
                  <a:schemeClr val="tx2"/>
                </a:solidFill>
              </a:rPr>
              <a:t>另存为</a:t>
            </a:r>
            <a:r>
              <a:rPr lang="zh-CN" altLang="en-US" sz="2400" b="1" dirty="0"/>
              <a:t>，检查路径，修改文件名为 “</a:t>
            </a:r>
            <a:r>
              <a:rPr lang="en-US" altLang="zh-CN" sz="2400" b="1" dirty="0"/>
              <a:t>MySchlib1.Schlib</a:t>
            </a:r>
            <a:r>
              <a:rPr lang="zh-CN" altLang="en-US" sz="2400" b="1" dirty="0"/>
              <a:t>”，保存文件；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2.3.1 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</a:rPr>
              <a:t>创建原理图库文件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573016"/>
            <a:ext cx="396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72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2.3.2  </a:t>
            </a:r>
            <a:r>
              <a:rPr lang="zh-CN" altLang="en-US" sz="3600" b="1" dirty="0">
                <a:solidFill>
                  <a:srgbClr val="FF0000"/>
                </a:solidFill>
              </a:rPr>
              <a:t>设置工作参数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8640960" cy="504056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/>
              <a:t>点击菜单栏里的</a:t>
            </a:r>
            <a:r>
              <a:rPr lang="zh-CN" altLang="en-US" sz="2000" b="1" dirty="0">
                <a:solidFill>
                  <a:schemeClr val="tx2"/>
                </a:solidFill>
              </a:rPr>
              <a:t>视图 </a:t>
            </a:r>
            <a:r>
              <a:rPr lang="en-US" altLang="zh-CN" sz="2000" b="1" dirty="0"/>
              <a:t>→</a:t>
            </a:r>
            <a:r>
              <a:rPr lang="zh-CN" altLang="en-US" sz="2000" b="1" dirty="0">
                <a:solidFill>
                  <a:schemeClr val="tx2"/>
                </a:solidFill>
              </a:rPr>
              <a:t>工具栏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→</a:t>
            </a:r>
            <a:r>
              <a:rPr lang="zh-CN" altLang="en-US" sz="2000" b="1" dirty="0">
                <a:solidFill>
                  <a:schemeClr val="tx2"/>
                </a:solidFill>
              </a:rPr>
              <a:t>应用工具</a:t>
            </a:r>
            <a:r>
              <a:rPr lang="zh-CN" altLang="en-US" sz="2000" b="1" dirty="0"/>
              <a:t>，工具栏中就有了应用工具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680" y="2120923"/>
            <a:ext cx="3682752" cy="421242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564904"/>
            <a:ext cx="37052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9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579296" cy="2592288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关闭自动扫描选项：执行菜单命令</a:t>
            </a:r>
            <a:r>
              <a:rPr lang="zh-CN" altLang="en-US" sz="2400" b="1" dirty="0">
                <a:solidFill>
                  <a:schemeClr val="tx2"/>
                </a:solidFill>
              </a:rPr>
              <a:t>工具</a:t>
            </a:r>
            <a:r>
              <a:rPr lang="en-US" altLang="zh-CN" sz="2400" b="1" dirty="0"/>
              <a:t>→</a:t>
            </a:r>
            <a:r>
              <a:rPr lang="zh-CN" altLang="en-US" sz="2400" b="1" dirty="0">
                <a:solidFill>
                  <a:schemeClr val="tx2"/>
                </a:solidFill>
              </a:rPr>
              <a:t>原理图优先项</a:t>
            </a:r>
            <a:r>
              <a:rPr lang="zh-CN" altLang="en-US" sz="2400" b="1" dirty="0"/>
              <a:t>，在弹出的</a:t>
            </a:r>
            <a:r>
              <a:rPr lang="zh-CN" altLang="en-US" sz="2400" b="1" dirty="0">
                <a:solidFill>
                  <a:schemeClr val="tx2"/>
                </a:solidFill>
              </a:rPr>
              <a:t>优选项</a:t>
            </a:r>
            <a:r>
              <a:rPr lang="zh-CN" altLang="en-US" sz="2400" b="1" dirty="0"/>
              <a:t>对话框里选择</a:t>
            </a:r>
            <a:r>
              <a:rPr lang="en-US" altLang="zh-CN" sz="2400" b="1" dirty="0"/>
              <a:t>Graphical Editing</a:t>
            </a:r>
            <a:r>
              <a:rPr lang="zh-CN" altLang="en-US" sz="2400" b="1" dirty="0"/>
              <a:t>选项，在</a:t>
            </a:r>
            <a:r>
              <a:rPr lang="zh-CN" altLang="en-US" sz="2400" b="1" dirty="0">
                <a:solidFill>
                  <a:schemeClr val="tx2"/>
                </a:solidFill>
              </a:rPr>
              <a:t>自动平移选项</a:t>
            </a:r>
            <a:r>
              <a:rPr lang="zh-CN" altLang="en-US" sz="2400" b="1" dirty="0"/>
              <a:t>类型下拉列表框中选中</a:t>
            </a:r>
            <a:r>
              <a:rPr lang="en-US" altLang="zh-CN" sz="2400" b="1" dirty="0"/>
              <a:t>Auto Pan </a:t>
            </a:r>
            <a:r>
              <a:rPr lang="en-US" altLang="zh-CN" sz="2400" b="1" dirty="0" err="1"/>
              <a:t>ReCenter</a:t>
            </a:r>
            <a:r>
              <a:rPr lang="zh-CN" altLang="en-US" sz="2400" b="1" dirty="0"/>
              <a:t>取消自动滚屏。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8" y="3068960"/>
            <a:ext cx="8604448" cy="317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83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44008" y="332656"/>
            <a:ext cx="3960440" cy="22322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        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0" y="3344408"/>
            <a:ext cx="41399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    切换到</a:t>
            </a:r>
            <a:r>
              <a:rPr lang="en-US" altLang="zh-CN" sz="2400" b="1" dirty="0"/>
              <a:t>SCH Library</a:t>
            </a:r>
            <a:r>
              <a:rPr lang="zh-CN" altLang="en-US" sz="2400" b="1" dirty="0"/>
              <a:t>面板，双击</a:t>
            </a:r>
            <a:r>
              <a:rPr lang="en-US" altLang="zh-CN" sz="2400" b="1" dirty="0"/>
              <a:t>Component_1</a:t>
            </a:r>
            <a:r>
              <a:rPr lang="zh-CN" altLang="en-US" sz="2400" b="1" dirty="0"/>
              <a:t>，在弹出的对话框中修改</a:t>
            </a:r>
            <a:r>
              <a:rPr lang="en-US" altLang="zh-CN" sz="2400" b="1" dirty="0"/>
              <a:t>Design Item ID</a:t>
            </a:r>
            <a:r>
              <a:rPr lang="zh-CN" altLang="en-US" sz="2400" b="1" dirty="0"/>
              <a:t>为“数码管”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。 </a:t>
            </a:r>
            <a:endParaRPr lang="en-US" altLang="zh-CN" sz="2400" b="1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07504" y="982566"/>
            <a:ext cx="4158134" cy="237442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将光标定位到坐标原点：执行菜单命令</a:t>
            </a:r>
            <a:r>
              <a:rPr lang="zh-CN" altLang="en-US" sz="2400" b="1" dirty="0">
                <a:solidFill>
                  <a:schemeClr val="tx2"/>
                </a:solidFill>
              </a:rPr>
              <a:t>编辑</a:t>
            </a:r>
            <a:r>
              <a:rPr lang="en-US" altLang="zh-CN" sz="2400" b="1" dirty="0"/>
              <a:t>→</a:t>
            </a:r>
            <a:r>
              <a:rPr lang="zh-CN" altLang="en-US" sz="2400" b="1" dirty="0">
                <a:solidFill>
                  <a:schemeClr val="tx2"/>
                </a:solidFill>
              </a:rPr>
              <a:t>跳转</a:t>
            </a:r>
            <a:r>
              <a:rPr lang="en-US" altLang="zh-CN" sz="2400" b="1" dirty="0"/>
              <a:t>→</a:t>
            </a:r>
            <a:r>
              <a:rPr lang="zh-CN" altLang="en-US" sz="2400" b="1" dirty="0"/>
              <a:t>原点，使光标自动回到坐标原点。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142" y="1124744"/>
            <a:ext cx="4082475" cy="458729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644008" y="3068960"/>
            <a:ext cx="3168352" cy="36004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253" y="1268760"/>
            <a:ext cx="5462020" cy="511256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绘制矩形： 点击工具栏的</a:t>
            </a:r>
            <a:r>
              <a:rPr lang="zh-CN" altLang="en-US" sz="2400" b="1" dirty="0">
                <a:solidFill>
                  <a:schemeClr val="tx2"/>
                </a:solidFill>
              </a:rPr>
              <a:t>放置矩形</a:t>
            </a:r>
            <a:r>
              <a:rPr lang="zh-CN" altLang="en-US" sz="2400" b="1" dirty="0"/>
              <a:t>，将矩形放置在原点附近，拖动鼠标设置合适的大小。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放置文本：点击中间工具栏的</a:t>
            </a:r>
            <a:r>
              <a:rPr lang="zh-CN" altLang="en-US" sz="2400" b="1" dirty="0">
                <a:solidFill>
                  <a:schemeClr val="tx2"/>
                </a:solidFill>
              </a:rPr>
              <a:t>放置文体字符串</a:t>
            </a:r>
            <a:r>
              <a:rPr lang="zh-CN" altLang="en-US" sz="2400" b="1" dirty="0"/>
              <a:t>，可通过</a:t>
            </a:r>
            <a:r>
              <a:rPr lang="en-US" altLang="zh-CN" sz="2400" b="1" dirty="0"/>
              <a:t>Tab</a:t>
            </a:r>
            <a:r>
              <a:rPr lang="zh-CN" altLang="en-US" sz="2400" b="1" dirty="0"/>
              <a:t>键弹出</a:t>
            </a:r>
            <a:r>
              <a:rPr lang="en-US" altLang="zh-CN" sz="2400" b="1" dirty="0">
                <a:solidFill>
                  <a:schemeClr val="tx2"/>
                </a:solidFill>
              </a:rPr>
              <a:t>Properties</a:t>
            </a:r>
            <a:r>
              <a:rPr lang="zh-CN" altLang="en-US" sz="2400" b="1" dirty="0"/>
              <a:t>对话框，修改</a:t>
            </a:r>
            <a:r>
              <a:rPr lang="en-US" altLang="zh-CN" sz="2400" b="1" dirty="0"/>
              <a:t>Text</a:t>
            </a:r>
            <a:r>
              <a:rPr lang="zh-CN" altLang="en-US" sz="2400" b="1" dirty="0"/>
              <a:t>文本属性为</a:t>
            </a:r>
            <a:r>
              <a:rPr lang="en-US" altLang="zh-CN" sz="2400" b="1" dirty="0"/>
              <a:t>8.</a:t>
            </a:r>
            <a:r>
              <a:rPr lang="zh-CN" altLang="en-US" sz="2400" b="1" dirty="0"/>
              <a:t>，并可修改</a:t>
            </a:r>
            <a:r>
              <a:rPr lang="en-US" altLang="zh-CN" sz="2400" b="1" dirty="0"/>
              <a:t>Font</a:t>
            </a:r>
            <a:r>
              <a:rPr lang="zh-CN" altLang="en-US" sz="2400" b="1" dirty="0"/>
              <a:t>字体属性为</a:t>
            </a:r>
            <a:r>
              <a:rPr lang="en-US" altLang="zh-CN" sz="2400" b="1" dirty="0"/>
              <a:t>72</a:t>
            </a:r>
            <a:r>
              <a:rPr lang="zh-CN" altLang="en-US" sz="2400" b="1" dirty="0"/>
              <a:t>。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2.3.3 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绘制元件图形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273" y="1484784"/>
            <a:ext cx="27622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48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92506"/>
            <a:ext cx="3995936" cy="52328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/>
              <a:t>•</a:t>
            </a:r>
            <a:r>
              <a:rPr lang="zh-CN" altLang="en-US" sz="2200" b="1" dirty="0"/>
              <a:t>点击中间工具栏的</a:t>
            </a:r>
            <a:r>
              <a:rPr lang="zh-CN" altLang="en-US" sz="2200" b="1" dirty="0">
                <a:solidFill>
                  <a:schemeClr val="tx2"/>
                </a:solidFill>
              </a:rPr>
              <a:t>放置管脚</a:t>
            </a:r>
            <a:r>
              <a:rPr lang="zh-CN" altLang="en-US" sz="2200" b="1" dirty="0"/>
              <a:t>，并通过</a:t>
            </a:r>
            <a:r>
              <a:rPr lang="en-US" altLang="zh-CN" sz="2200" b="1" dirty="0"/>
              <a:t>Tab</a:t>
            </a:r>
            <a:r>
              <a:rPr lang="zh-CN" altLang="en-US" sz="2200" b="1" dirty="0"/>
              <a:t>键弹出</a:t>
            </a:r>
            <a:r>
              <a:rPr lang="en-US" altLang="zh-CN" sz="2200" b="1" dirty="0"/>
              <a:t>Properties</a:t>
            </a:r>
            <a:r>
              <a:rPr lang="zh-CN" altLang="en-US" sz="2200" b="1" dirty="0"/>
              <a:t>对话框，修改</a:t>
            </a:r>
            <a:r>
              <a:rPr lang="en-US" altLang="zh-CN" sz="2200" b="1" dirty="0"/>
              <a:t>Name</a:t>
            </a:r>
            <a:r>
              <a:rPr lang="zh-CN" altLang="en-US" sz="2200" b="1" dirty="0"/>
              <a:t>（名字）、</a:t>
            </a:r>
            <a:r>
              <a:rPr lang="en-US" altLang="zh-CN" sz="2200" b="1" dirty="0"/>
              <a:t>Designator</a:t>
            </a:r>
            <a:r>
              <a:rPr lang="zh-CN" altLang="en-US" sz="2200" b="1" dirty="0"/>
              <a:t>（标识），</a:t>
            </a:r>
            <a:r>
              <a:rPr lang="en-US" altLang="zh-CN" sz="2200" b="1" dirty="0"/>
              <a:t>Electrical Type</a:t>
            </a:r>
            <a:r>
              <a:rPr lang="zh-CN" altLang="en-US" sz="2200" b="1" dirty="0"/>
              <a:t>（电气类型），以及</a:t>
            </a:r>
            <a:r>
              <a:rPr lang="en-US" altLang="zh-CN" sz="2200" b="1" dirty="0"/>
              <a:t>Length</a:t>
            </a:r>
            <a:r>
              <a:rPr lang="zh-CN" altLang="en-US" sz="2200" b="1" dirty="0"/>
              <a:t>（长度）等参数。然后通过空格键旋转引脚，放置引脚时需注意引脚的两端是不同的，显示</a:t>
            </a:r>
            <a:r>
              <a:rPr lang="en-US" altLang="zh-CN" sz="2200" b="1" dirty="0">
                <a:solidFill>
                  <a:srgbClr val="FF0000"/>
                </a:solidFill>
              </a:rPr>
              <a:t>×</a:t>
            </a:r>
            <a:r>
              <a:rPr lang="zh-CN" altLang="en-US" sz="2200" b="1" dirty="0"/>
              <a:t>的一端要</a:t>
            </a:r>
            <a:r>
              <a:rPr lang="zh-CN" altLang="en-US" sz="2200" b="1" dirty="0">
                <a:solidFill>
                  <a:srgbClr val="FF0000"/>
                </a:solidFill>
              </a:rPr>
              <a:t>向外放置</a:t>
            </a:r>
            <a:r>
              <a:rPr lang="zh-CN" altLang="en-US" sz="2200" b="1" dirty="0"/>
              <a:t>，放大可以看到有</a:t>
            </a:r>
            <a:r>
              <a:rPr lang="en-US" altLang="zh-CN" sz="2200" b="1" dirty="0"/>
              <a:t>4</a:t>
            </a:r>
            <a:r>
              <a:rPr lang="zh-CN" altLang="en-US" sz="2200" b="1" dirty="0"/>
              <a:t>个小白点。</a:t>
            </a:r>
            <a:endParaRPr lang="zh-CN" altLang="en-US" sz="22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2.3.4 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绘制元件引脚及设置引脚属性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07" y="1319962"/>
            <a:ext cx="3905322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95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96751"/>
            <a:ext cx="4283968" cy="532859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 </a:t>
            </a:r>
            <a:r>
              <a:rPr lang="zh-CN" altLang="en-US" sz="2400" b="1" dirty="0"/>
              <a:t>切换标签页至</a:t>
            </a:r>
            <a:r>
              <a:rPr lang="en-US" altLang="zh-CN" sz="2400" b="1" dirty="0"/>
              <a:t>SCH Library</a:t>
            </a:r>
            <a:r>
              <a:rPr lang="zh-CN" altLang="en-US" sz="2400" b="1" dirty="0"/>
              <a:t>，双击“数码管”弹出</a:t>
            </a:r>
            <a:r>
              <a:rPr lang="en-US" altLang="zh-CN" sz="2400" b="1" dirty="0"/>
              <a:t>Properties</a:t>
            </a:r>
            <a:r>
              <a:rPr lang="zh-CN" altLang="en-US" sz="2400" b="1" dirty="0"/>
              <a:t>对话框，设置</a:t>
            </a:r>
            <a:r>
              <a:rPr lang="en-US" altLang="zh-CN" sz="2400" b="1" dirty="0"/>
              <a:t>Designator</a:t>
            </a:r>
            <a:r>
              <a:rPr lang="zh-CN" altLang="en-US" sz="2400" b="1" dirty="0"/>
              <a:t>为“</a:t>
            </a:r>
            <a:r>
              <a:rPr lang="en-US" altLang="zh-CN" sz="2400" b="1" dirty="0">
                <a:solidFill>
                  <a:srgbClr val="FF0000"/>
                </a:solidFill>
              </a:rPr>
              <a:t>DS?</a:t>
            </a:r>
            <a:r>
              <a:rPr lang="zh-CN" altLang="en-US" sz="2400" b="1" dirty="0"/>
              <a:t>”设置</a:t>
            </a:r>
            <a:r>
              <a:rPr lang="en-US" altLang="zh-CN" sz="2400" b="1" dirty="0"/>
              <a:t>Default Comment</a:t>
            </a:r>
            <a:r>
              <a:rPr lang="zh-CN" altLang="en-US" sz="2400" b="1" dirty="0"/>
              <a:t>为“共阴数码管”。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保存原理图库文件</a:t>
            </a: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2.3.5 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设置元件属性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196751"/>
            <a:ext cx="3888432" cy="56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48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•</a:t>
            </a:r>
            <a:r>
              <a:rPr lang="zh-CN" altLang="en-US" sz="2400" b="1" dirty="0"/>
              <a:t>执行菜单命令</a:t>
            </a:r>
            <a:r>
              <a:rPr lang="zh-CN" altLang="en-US" sz="2400" b="1" dirty="0">
                <a:solidFill>
                  <a:schemeClr val="tx2"/>
                </a:solidFill>
              </a:rPr>
              <a:t>报告</a:t>
            </a:r>
            <a:r>
              <a:rPr lang="en-US" altLang="zh-CN" sz="2400" b="1" dirty="0"/>
              <a:t> → </a:t>
            </a:r>
            <a:r>
              <a:rPr lang="zh-CN" altLang="en-US" sz="2400" b="1" dirty="0">
                <a:solidFill>
                  <a:schemeClr val="tx2"/>
                </a:solidFill>
              </a:rPr>
              <a:t>器件规则检查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2.3.7 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元件规则检查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528252"/>
            <a:ext cx="5159127" cy="380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51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96752"/>
            <a:ext cx="8964488" cy="45365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添加到项目文件中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   右键单击项目文件，选择</a:t>
            </a:r>
            <a:r>
              <a:rPr lang="zh-CN" altLang="en-US" sz="2400" b="1" dirty="0">
                <a:solidFill>
                  <a:schemeClr val="tx2"/>
                </a:solidFill>
              </a:rPr>
              <a:t>添加已有文档到工程</a:t>
            </a:r>
            <a:r>
              <a:rPr lang="zh-CN" altLang="en-US" sz="2400" b="1" dirty="0"/>
              <a:t>，选择创建好的原理图库</a:t>
            </a:r>
            <a:r>
              <a:rPr lang="en-US" altLang="zh-CN" sz="2400" b="1" dirty="0"/>
              <a:t>MySchlib1.SchLib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可通过加载元件库的方法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      点击右侧的</a:t>
            </a:r>
            <a:r>
              <a:rPr lang="en-US" altLang="zh-CN" sz="2400" b="1" dirty="0"/>
              <a:t>Components</a:t>
            </a:r>
            <a:r>
              <a:rPr lang="zh-CN" altLang="en-US" sz="2400" b="1" dirty="0"/>
              <a:t>标签，点击       按钮，选择</a:t>
            </a:r>
            <a:r>
              <a:rPr lang="en-US" altLang="zh-CN" sz="2400" b="1" dirty="0">
                <a:solidFill>
                  <a:schemeClr val="tx2"/>
                </a:solidFill>
              </a:rPr>
              <a:t>File-based Libraries </a:t>
            </a:r>
            <a:r>
              <a:rPr lang="en-US" altLang="zh-CN" sz="2400" b="1" dirty="0" err="1">
                <a:solidFill>
                  <a:schemeClr val="tx2"/>
                </a:solidFill>
              </a:rPr>
              <a:t>Perferences</a:t>
            </a:r>
            <a:r>
              <a:rPr lang="zh-CN" altLang="en-US" sz="2400" b="1" dirty="0"/>
              <a:t>，在弹出对话框中点击</a:t>
            </a:r>
            <a:r>
              <a:rPr lang="zh-CN" altLang="en-US" sz="2400" b="1" dirty="0">
                <a:solidFill>
                  <a:schemeClr val="tx2"/>
                </a:solidFill>
              </a:rPr>
              <a:t>添加库，找到</a:t>
            </a:r>
            <a:r>
              <a:rPr lang="en-US" altLang="zh-CN" sz="2400" b="1" dirty="0"/>
              <a:t>MySchlib1.SchLib</a:t>
            </a:r>
            <a:r>
              <a:rPr lang="zh-CN" altLang="en-US" sz="2400" b="1" dirty="0"/>
              <a:t>文件并点击打开，然后点击</a:t>
            </a:r>
            <a:r>
              <a:rPr lang="zh-CN" altLang="en-US" sz="2400" b="1" dirty="0">
                <a:solidFill>
                  <a:schemeClr val="tx2"/>
                </a:solidFill>
              </a:rPr>
              <a:t>关闭</a:t>
            </a:r>
            <a:r>
              <a:rPr lang="zh-CN" altLang="en-US" sz="2400" b="1" dirty="0"/>
              <a:t>， 再打开标签，会发现库文件已经添加了。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3027DD"/>
                </a:solidFill>
              </a:rPr>
              <a:t>练习：创建数码管（或其他器件）</a:t>
            </a:r>
            <a:endParaRPr lang="en-US" altLang="zh-CN" sz="2400" b="1" dirty="0">
              <a:solidFill>
                <a:srgbClr val="3027DD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2.3.8 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使用元器件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3789040"/>
            <a:ext cx="376808" cy="29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39485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16636</TotalTime>
  <Words>1947</Words>
  <Application>Microsoft Office PowerPoint</Application>
  <PresentationFormat>全屏显示(4:3)</PresentationFormat>
  <Paragraphs>188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1" baseType="lpstr">
      <vt:lpstr>方正姚体</vt:lpstr>
      <vt:lpstr>黑体</vt:lpstr>
      <vt:lpstr>宋体</vt:lpstr>
      <vt:lpstr>Arial</vt:lpstr>
      <vt:lpstr>Calibri</vt:lpstr>
      <vt:lpstr>自定义设计方案</vt:lpstr>
      <vt:lpstr>第2章 原理图的绘制</vt:lpstr>
      <vt:lpstr>PowerPoint 演示文稿</vt:lpstr>
      <vt:lpstr>2.1  原理图的概念及组成</vt:lpstr>
      <vt:lpstr>PowerPoint 演示文稿</vt:lpstr>
      <vt:lpstr>PowerPoint 演示文稿</vt:lpstr>
      <vt:lpstr>2.2  原理图的设计流程</vt:lpstr>
      <vt:lpstr>2.2.1  创建原理图文件</vt:lpstr>
      <vt:lpstr>PowerPoint 演示文稿</vt:lpstr>
      <vt:lpstr>2.2.2  图纸设置</vt:lpstr>
      <vt:lpstr>2.2.3  加载元器件库</vt:lpstr>
      <vt:lpstr>PowerPoint 演示文稿</vt:lpstr>
      <vt:lpstr>2.2.4  放置元器件</vt:lpstr>
      <vt:lpstr>PowerPoint 演示文稿</vt:lpstr>
      <vt:lpstr>PowerPoint 演示文稿</vt:lpstr>
      <vt:lpstr>PowerPoint 演示文稿</vt:lpstr>
      <vt:lpstr>2.2.5  元器件位置调整</vt:lpstr>
      <vt:lpstr>2.2.6  设置元器件属性</vt:lpstr>
      <vt:lpstr>PowerPoint 演示文稿</vt:lpstr>
      <vt:lpstr>PowerPoint 演示文稿</vt:lpstr>
      <vt:lpstr>PowerPoint 演示文稿</vt:lpstr>
      <vt:lpstr>PowerPoint 演示文稿</vt:lpstr>
      <vt:lpstr>2.2.7  连线</vt:lpstr>
      <vt:lpstr>2.2.8  编译和检查错误</vt:lpstr>
      <vt:lpstr>PowerPoint 演示文稿</vt:lpstr>
      <vt:lpstr>2.2.9  网表报表输出</vt:lpstr>
      <vt:lpstr>2.3  原理图库元件制作与使用</vt:lpstr>
      <vt:lpstr>2.3.1  创建原理图库文件</vt:lpstr>
      <vt:lpstr>2.3.2  设置工作参数</vt:lpstr>
      <vt:lpstr>•关闭自动扫描选项：执行菜单命令工具→原理图优先项，在弹出的优选项对话框里选择Graphical Editing选项，在自动平移选项类型下拉列表框中选中Auto Pan ReCenter取消自动滚屏。</vt:lpstr>
      <vt:lpstr>      将光标定位到坐标原点：执行菜单命令编辑→跳转→原点，使光标自动回到坐标原点。</vt:lpstr>
      <vt:lpstr>2.3.3  绘制元件图形</vt:lpstr>
      <vt:lpstr>2.3.4  绘制元件引脚及设置引脚属性</vt:lpstr>
      <vt:lpstr>2.3.5  设置元件属性</vt:lpstr>
      <vt:lpstr>2.3.7  元件规则检查</vt:lpstr>
      <vt:lpstr>2.3.8  使用元器件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辉</dc:creator>
  <cp:lastModifiedBy>Lenovo</cp:lastModifiedBy>
  <cp:revision>533</cp:revision>
  <dcterms:created xsi:type="dcterms:W3CDTF">2010-04-06T01:43:18Z</dcterms:created>
  <dcterms:modified xsi:type="dcterms:W3CDTF">2024-03-05T12:24:38Z</dcterms:modified>
</cp:coreProperties>
</file>